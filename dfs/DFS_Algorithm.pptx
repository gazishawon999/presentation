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5" r:id="rId23"/>
    <p:sldId id="284" r:id="rId24"/>
    <p:sldId id="286" r:id="rId25"/>
    <p:sldId id="287" r:id="rId26"/>
    <p:sldId id="282" r:id="rId27"/>
    <p:sldId id="291" r:id="rId28"/>
    <p:sldId id="283" r:id="rId29"/>
    <p:sldId id="290" r:id="rId30"/>
    <p:sldId id="288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E6F"/>
    <a:srgbClr val="95FE44"/>
    <a:srgbClr val="F2EBD8"/>
    <a:srgbClr val="0084B4"/>
    <a:srgbClr val="93E2FF"/>
    <a:srgbClr val="FEB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6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1364-30D3-405D-838C-8B5A82AE952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7E5AE-9B3A-4128-BBA6-C4913AC166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58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7E5AE-9B3A-4128-BBA6-C4913AC166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45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37E5AE-9B3A-4128-BBA6-C4913AC166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44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3.png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 /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5" y="1346948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5" y="4299698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5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62814-1596-4E70-AD7F-2A0485A05BF9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4" y="4289334"/>
            <a:ext cx="1193868" cy="640080"/>
          </a:xfrm>
        </p:spPr>
        <p:txBody>
          <a:bodyPr/>
          <a:lstStyle>
            <a:lvl1pPr>
              <a:defRPr sz="21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2BFE0-425A-4C88-B593-B4474762A836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3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8" y="6272786"/>
            <a:ext cx="2644309" cy="365125"/>
          </a:xfrm>
        </p:spPr>
        <p:txBody>
          <a:bodyPr/>
          <a:lstStyle/>
          <a:p>
            <a:fld id="{CA9E35E5-AFC0-4C70-A2DE-DA7E62FF41EB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6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1" y="2506133"/>
            <a:ext cx="1188299" cy="720332"/>
          </a:xfrm>
        </p:spPr>
        <p:txBody>
          <a:bodyPr/>
          <a:lstStyle>
            <a:lvl1pPr>
              <a:defRPr sz="21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7D7BA-BAB5-4967-BE9D-E7FF36F20B3B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08776-B7B6-4C67-B4CA-10653193C333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1392-1737-4B14-B01A-4F51EEC34C87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E10D7-F53F-4410-9813-72A344FC5668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1" y="1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01E92-4329-4A2D-A6E6-152ED015EC80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1" y="1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648F3-3849-462D-AA2F-A8F8631CFC5F}" type="datetime1">
              <a:rPr lang="en-US" smtClean="0"/>
              <a:t>1/7/2026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D5B36-8CD5-43E8-809D-3956F125A1F3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1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90526-4F54-4433-A0D4-EC46E4905A43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microsoft.com/office/2007/relationships/hdphoto" Target="../media/hdphoto1.wdp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6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546A4463-8985-468D-B3E0-C43E199BFE6E}" type="datetime1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6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6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 /><Relationship Id="rId3" Type="http://schemas.openxmlformats.org/officeDocument/2006/relationships/image" Target="../media/image2.png" /><Relationship Id="rId7" Type="http://schemas.microsoft.com/office/2007/relationships/hdphoto" Target="../media/hdphoto2.wdp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7.png" /><Relationship Id="rId5" Type="http://schemas.openxmlformats.org/officeDocument/2006/relationships/image" Target="../media/image6.tmp" /><Relationship Id="rId4" Type="http://schemas.microsoft.com/office/2007/relationships/hdphoto" Target="../media/hdphoto1.wdp" /><Relationship Id="rId9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7" Type="http://schemas.openxmlformats.org/officeDocument/2006/relationships/image" Target="../media/image5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microsoft.com/office/2007/relationships/hdphoto" Target="../media/hdphoto1.wdp" /><Relationship Id="rId5" Type="http://schemas.openxmlformats.org/officeDocument/2006/relationships/image" Target="../media/image2.png" /><Relationship Id="rId4" Type="http://schemas.openxmlformats.org/officeDocument/2006/relationships/image" Target="../media/image12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openxmlformats.org/officeDocument/2006/relationships/image" Target="../media/image2.png" /><Relationship Id="rId4" Type="http://schemas.microsoft.com/office/2007/relationships/hdphoto" Target="../media/hdphoto2.wdp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3.png" /><Relationship Id="rId7" Type="http://schemas.microsoft.com/office/2007/relationships/hdphoto" Target="../media/hdphoto1.wdp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.png" /><Relationship Id="rId5" Type="http://schemas.openxmlformats.org/officeDocument/2006/relationships/image" Target="../media/image14.jpeg" /><Relationship Id="rId4" Type="http://schemas.openxmlformats.org/officeDocument/2006/relationships/image" Target="../media/image13.jpeg" 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3.png" /><Relationship Id="rId7" Type="http://schemas.microsoft.com/office/2007/relationships/hdphoto" Target="../media/hdphoto1.wdp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.png" /><Relationship Id="rId5" Type="http://schemas.openxmlformats.org/officeDocument/2006/relationships/image" Target="../media/image12.jpeg" /><Relationship Id="rId4" Type="http://schemas.openxmlformats.org/officeDocument/2006/relationships/image" Target="../media/image15.jpe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png" /><Relationship Id="rId5" Type="http://schemas.microsoft.com/office/2007/relationships/hdphoto" Target="../media/hdphoto1.wdp" /><Relationship Id="rId4" Type="http://schemas.openxmlformats.org/officeDocument/2006/relationships/image" Target="../media/image2.pn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microsoft.com/office/2007/relationships/hdphoto" Target="../media/hdphoto1.wdp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FDEBDB-5859-4B9E-8810-2C5CFED09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16B591-D2E7-D0F6-40AE-BF3846C9D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25" y="420711"/>
            <a:ext cx="11573301" cy="3525056"/>
          </a:xfrm>
        </p:spPr>
        <p:txBody>
          <a:bodyPr anchor="b"/>
          <a:lstStyle/>
          <a:p>
            <a:pPr algn="ctr"/>
            <a:r>
              <a:rPr lang="en-GB" sz="5400" dirty="0">
                <a:solidFill>
                  <a:srgbClr val="FFFFFF"/>
                </a:solidFill>
              </a:rPr>
              <a:t>Welcome to depth first search (DFS) presentation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D1A340-723B-4014-B5FE-204F06273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58589"/>
            <a:ext cx="9144000" cy="0"/>
          </a:xfrm>
          <a:prstGeom prst="line">
            <a:avLst/>
          </a:prstGeom>
          <a:ln w="28575">
            <a:solidFill>
              <a:srgbClr val="FFFFFF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1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3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007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EBB162-7C21-0E19-5A46-F3FDEEA949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558" r="5558"/>
          <a:stretch/>
        </p:blipFill>
        <p:spPr>
          <a:xfrm>
            <a:off x="-1273606" y="442016"/>
            <a:ext cx="8642903" cy="6215673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060CE1A-A2ED-43AC-857D-05822177F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2598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blipFill dpi="0" rotWithShape="1">
            <a:blip r:embed="rId6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C9A69-1F79-D32B-AAE8-244167685BC0}"/>
              </a:ext>
            </a:extLst>
          </p:cNvPr>
          <p:cNvSpPr txBox="1"/>
          <p:nvPr/>
        </p:nvSpPr>
        <p:spPr>
          <a:xfrm>
            <a:off x="6593031" y="1670021"/>
            <a:ext cx="5101326" cy="3959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3200" b="1" dirty="0">
                <a:latin typeface="Algerian" panose="04020705040A02060702" pitchFamily="82" charset="0"/>
              </a:rPr>
              <a:t>Presented By: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endParaRPr lang="en-GB" sz="2000" b="1" dirty="0">
              <a:latin typeface="Aptos Black" panose="020B0004020202020204" pitchFamily="34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Name: </a:t>
            </a:r>
            <a:r>
              <a:rPr lang="en-GB" sz="2000" b="1" dirty="0" err="1">
                <a:latin typeface="Century" panose="02040604050505020304" pitchFamily="18" charset="0"/>
              </a:rPr>
              <a:t>Shawon</a:t>
            </a:r>
            <a:r>
              <a:rPr lang="en-GB" sz="2000" b="1" dirty="0">
                <a:latin typeface="Century" panose="02040604050505020304" pitchFamily="18" charset="0"/>
              </a:rPr>
              <a:t> </a:t>
            </a:r>
            <a:r>
              <a:rPr lang="en-US" sz="2000" b="1" dirty="0" err="1">
                <a:latin typeface="Century" panose="02040604050505020304" pitchFamily="18" charset="0"/>
              </a:rPr>
              <a:t>Gazi</a:t>
            </a:r>
            <a:endParaRPr lang="en-US" sz="2000" b="1" dirty="0">
              <a:latin typeface="Century" panose="020406040505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Id: 241400031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endParaRPr lang="en-GB" sz="2000" b="1" dirty="0">
              <a:latin typeface="Century" panose="020406040505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Name: </a:t>
            </a:r>
            <a:r>
              <a:rPr lang="en-US" sz="2000" b="1" dirty="0" err="1">
                <a:latin typeface="Century" panose="02040604050505020304" pitchFamily="18" charset="0"/>
              </a:rPr>
              <a:t>Tamanna</a:t>
            </a:r>
            <a:r>
              <a:rPr lang="en-US" sz="2000" b="1" dirty="0">
                <a:latin typeface="Century" panose="02040604050505020304" pitchFamily="18" charset="0"/>
              </a:rPr>
              <a:t> Ahmed </a:t>
            </a:r>
            <a:r>
              <a:rPr lang="en-US" sz="2000" b="1" dirty="0" err="1">
                <a:latin typeface="Century" panose="02040604050505020304" pitchFamily="18" charset="0"/>
              </a:rPr>
              <a:t>Tasin</a:t>
            </a:r>
            <a:endParaRPr lang="en-GB" sz="2000" b="1" dirty="0">
              <a:latin typeface="Century" panose="020406040505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Id: 241400033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endParaRPr lang="en-GB" sz="2000" b="1" dirty="0">
              <a:latin typeface="Century" panose="020406040505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Name: </a:t>
            </a:r>
            <a:r>
              <a:rPr lang="en-GB" sz="2000" b="1" dirty="0">
                <a:latin typeface="Century" panose="02040604050505020304" pitchFamily="18" charset="0"/>
              </a:rPr>
              <a:t>Al- Sharif</a:t>
            </a:r>
            <a:endParaRPr lang="en-US" sz="2000" b="1" dirty="0">
              <a:latin typeface="Century" panose="02040604050505020304" pitchFamily="18" charset="0"/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000" b="1" dirty="0">
                <a:latin typeface="Century" panose="02040604050505020304" pitchFamily="18" charset="0"/>
              </a:rPr>
              <a:t>Id: 241400037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</a:pPr>
            <a:endParaRPr lang="en-US" b="1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9F977D0-ACD0-95DC-6F1A-04E4F26CA975}"/>
              </a:ext>
            </a:extLst>
          </p:cNvPr>
          <p:cNvSpPr txBox="1"/>
          <p:nvPr/>
        </p:nvSpPr>
        <p:spPr>
          <a:xfrm>
            <a:off x="5519601" y="-263439"/>
            <a:ext cx="5101327" cy="1898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A719ED-BD28-517B-6075-4009C6B5EF6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13194" r="-1" b="-1"/>
          <a:stretch>
            <a:fillRect/>
          </a:stretch>
        </p:blipFill>
        <p:spPr>
          <a:xfrm>
            <a:off x="-562759" y="2601"/>
            <a:ext cx="6761470" cy="68527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2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6" name="Google Shape;1609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31452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CDD7-0EB4-9DCF-97AB-9AA32D18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105" y="18487"/>
            <a:ext cx="10058400" cy="1609344"/>
          </a:xfrm>
        </p:spPr>
        <p:txBody>
          <a:bodyPr/>
          <a:lstStyle/>
          <a:p>
            <a:pPr algn="ctr"/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Table of contents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Arrow: Notched Right 2">
            <a:extLst>
              <a:ext uri="{FF2B5EF4-FFF2-40B4-BE49-F238E27FC236}">
                <a16:creationId xmlns:a16="http://schemas.microsoft.com/office/drawing/2014/main" id="{B8C4D2CD-5212-1295-49E1-605F81294F99}"/>
              </a:ext>
            </a:extLst>
          </p:cNvPr>
          <p:cNvSpPr/>
          <p:nvPr/>
        </p:nvSpPr>
        <p:spPr>
          <a:xfrm>
            <a:off x="388105" y="1782417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9A95D3-AF4A-876D-998A-A0985B09F5DB}"/>
              </a:ext>
            </a:extLst>
          </p:cNvPr>
          <p:cNvSpPr txBox="1"/>
          <p:nvPr/>
        </p:nvSpPr>
        <p:spPr>
          <a:xfrm>
            <a:off x="1623107" y="1741507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Introduction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9" name="Arrow: Notched Right 18">
            <a:extLst>
              <a:ext uri="{FF2B5EF4-FFF2-40B4-BE49-F238E27FC236}">
                <a16:creationId xmlns:a16="http://schemas.microsoft.com/office/drawing/2014/main" id="{F4F56641-CA4E-8F66-D52A-4F8CFFB475D9}"/>
              </a:ext>
            </a:extLst>
          </p:cNvPr>
          <p:cNvSpPr/>
          <p:nvPr/>
        </p:nvSpPr>
        <p:spPr>
          <a:xfrm>
            <a:off x="388105" y="2644100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Notched Right 20">
            <a:extLst>
              <a:ext uri="{FF2B5EF4-FFF2-40B4-BE49-F238E27FC236}">
                <a16:creationId xmlns:a16="http://schemas.microsoft.com/office/drawing/2014/main" id="{7E1C3AF2-39FF-8F2B-D2B7-00B23927C160}"/>
              </a:ext>
            </a:extLst>
          </p:cNvPr>
          <p:cNvSpPr/>
          <p:nvPr/>
        </p:nvSpPr>
        <p:spPr>
          <a:xfrm>
            <a:off x="302604" y="5436964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Notched Right 22">
            <a:extLst>
              <a:ext uri="{FF2B5EF4-FFF2-40B4-BE49-F238E27FC236}">
                <a16:creationId xmlns:a16="http://schemas.microsoft.com/office/drawing/2014/main" id="{DC3F156A-2CF2-C19E-871A-15C8A007024C}"/>
              </a:ext>
            </a:extLst>
          </p:cNvPr>
          <p:cNvSpPr/>
          <p:nvPr/>
        </p:nvSpPr>
        <p:spPr>
          <a:xfrm>
            <a:off x="388105" y="4233660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Notched Right 24">
            <a:extLst>
              <a:ext uri="{FF2B5EF4-FFF2-40B4-BE49-F238E27FC236}">
                <a16:creationId xmlns:a16="http://schemas.microsoft.com/office/drawing/2014/main" id="{F7065EB7-8844-D5A0-022C-82D436DEAB67}"/>
              </a:ext>
            </a:extLst>
          </p:cNvPr>
          <p:cNvSpPr/>
          <p:nvPr/>
        </p:nvSpPr>
        <p:spPr>
          <a:xfrm>
            <a:off x="388105" y="3405916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7A0C1A-1E0B-666E-C914-F7C3A58B7CB4}"/>
              </a:ext>
            </a:extLst>
          </p:cNvPr>
          <p:cNvSpPr txBox="1"/>
          <p:nvPr/>
        </p:nvSpPr>
        <p:spPr>
          <a:xfrm>
            <a:off x="1623107" y="2624340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Basic idea of DFS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1" name="Arrow: Notched Right 30">
            <a:extLst>
              <a:ext uri="{FF2B5EF4-FFF2-40B4-BE49-F238E27FC236}">
                <a16:creationId xmlns:a16="http://schemas.microsoft.com/office/drawing/2014/main" id="{E0131F2A-5102-01C1-B1B1-FC05267B6F73}"/>
              </a:ext>
            </a:extLst>
          </p:cNvPr>
          <p:cNvSpPr/>
          <p:nvPr/>
        </p:nvSpPr>
        <p:spPr>
          <a:xfrm>
            <a:off x="6493885" y="1707084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Notched Right 32">
            <a:extLst>
              <a:ext uri="{FF2B5EF4-FFF2-40B4-BE49-F238E27FC236}">
                <a16:creationId xmlns:a16="http://schemas.microsoft.com/office/drawing/2014/main" id="{AA42F7AA-E792-A746-DF58-A12923E75778}"/>
              </a:ext>
            </a:extLst>
          </p:cNvPr>
          <p:cNvSpPr/>
          <p:nvPr/>
        </p:nvSpPr>
        <p:spPr>
          <a:xfrm>
            <a:off x="6493885" y="2633775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Notched Right 36">
            <a:extLst>
              <a:ext uri="{FF2B5EF4-FFF2-40B4-BE49-F238E27FC236}">
                <a16:creationId xmlns:a16="http://schemas.microsoft.com/office/drawing/2014/main" id="{BEDA3C2D-3C61-40B8-B957-FD1E6BF7856E}"/>
              </a:ext>
            </a:extLst>
          </p:cNvPr>
          <p:cNvSpPr/>
          <p:nvPr/>
        </p:nvSpPr>
        <p:spPr>
          <a:xfrm>
            <a:off x="6493885" y="3781977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Notched Right 38">
            <a:extLst>
              <a:ext uri="{FF2B5EF4-FFF2-40B4-BE49-F238E27FC236}">
                <a16:creationId xmlns:a16="http://schemas.microsoft.com/office/drawing/2014/main" id="{5720B7F9-64E4-708D-B282-C0F77D92FA04}"/>
              </a:ext>
            </a:extLst>
          </p:cNvPr>
          <p:cNvSpPr/>
          <p:nvPr/>
        </p:nvSpPr>
        <p:spPr>
          <a:xfrm>
            <a:off x="6493885" y="5446807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EFAA8-3393-0C3D-964F-427B63E8F7A1}"/>
              </a:ext>
            </a:extLst>
          </p:cNvPr>
          <p:cNvSpPr txBox="1"/>
          <p:nvPr/>
        </p:nvSpPr>
        <p:spPr>
          <a:xfrm>
            <a:off x="7630161" y="2571668"/>
            <a:ext cx="5103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Time &amp; Space Complexity Analysis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545C88E-2B96-2B48-6D21-196620967FDD}"/>
              </a:ext>
            </a:extLst>
          </p:cNvPr>
          <p:cNvSpPr txBox="1"/>
          <p:nvPr/>
        </p:nvSpPr>
        <p:spPr>
          <a:xfrm>
            <a:off x="1772851" y="3410932"/>
            <a:ext cx="51030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DFS Simulation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0CDD88-01CC-75F1-BC60-41DA326AD6CF}"/>
              </a:ext>
            </a:extLst>
          </p:cNvPr>
          <p:cNvSpPr txBox="1"/>
          <p:nvPr/>
        </p:nvSpPr>
        <p:spPr>
          <a:xfrm>
            <a:off x="1537606" y="4296703"/>
            <a:ext cx="5103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DFS Algorithm (Pseudo Code)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900BDF-227B-4DAC-84B9-33D49FBAD521}"/>
              </a:ext>
            </a:extLst>
          </p:cNvPr>
          <p:cNvSpPr txBox="1"/>
          <p:nvPr/>
        </p:nvSpPr>
        <p:spPr>
          <a:xfrm>
            <a:off x="7728887" y="4621080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Conclusion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CC0F76-2379-07F8-9285-6FD7F77D8AC4}"/>
              </a:ext>
            </a:extLst>
          </p:cNvPr>
          <p:cNvSpPr txBox="1"/>
          <p:nvPr/>
        </p:nvSpPr>
        <p:spPr>
          <a:xfrm>
            <a:off x="7703047" y="3831134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DFS vs BFS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4E2B22-1DC7-667F-7F08-958EF375FE2B}"/>
              </a:ext>
            </a:extLst>
          </p:cNvPr>
          <p:cNvSpPr txBox="1"/>
          <p:nvPr/>
        </p:nvSpPr>
        <p:spPr>
          <a:xfrm>
            <a:off x="7823339" y="1806330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Pros &amp; Cons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C2761C-DD16-DC1A-E60C-F9AC053E1C0D}"/>
              </a:ext>
            </a:extLst>
          </p:cNvPr>
          <p:cNvSpPr txBox="1"/>
          <p:nvPr/>
        </p:nvSpPr>
        <p:spPr>
          <a:xfrm>
            <a:off x="1537606" y="5509638"/>
            <a:ext cx="81321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Application of DFS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B935006E-AD4E-1A5A-6FB6-198E7421F6DB}"/>
              </a:ext>
            </a:extLst>
          </p:cNvPr>
          <p:cNvSpPr/>
          <p:nvPr/>
        </p:nvSpPr>
        <p:spPr>
          <a:xfrm>
            <a:off x="6480660" y="4553314"/>
            <a:ext cx="1235002" cy="698451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A1DB4-6A58-FD92-6D13-796BEA08F1EA}"/>
              </a:ext>
            </a:extLst>
          </p:cNvPr>
          <p:cNvSpPr txBox="1"/>
          <p:nvPr/>
        </p:nvSpPr>
        <p:spPr>
          <a:xfrm>
            <a:off x="7703047" y="5411026"/>
            <a:ext cx="46301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2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Running a Sample Code(Python)</a:t>
            </a:r>
            <a:endParaRPr lang="en-US" sz="3200" b="1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3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34" name="Google Shape;1609;p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6529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75E2E-B97C-616E-71DF-5C99FD958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CCDC40-13EB-C869-60AF-0F53CE65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GB" b="1" u="sng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  <a:endParaRPr lang="en-US" b="1" u="sng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CA31E-26DD-42A7-44B9-3431A21A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740" y="2392748"/>
            <a:ext cx="10058400" cy="4050792"/>
          </a:xfrm>
        </p:spPr>
        <p:txBody>
          <a:bodyPr>
            <a:normAutofit lnSpcReduction="10000"/>
          </a:bodyPr>
          <a:lstStyle/>
          <a:p>
            <a:r>
              <a:rPr lang="en-GB" sz="3200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Depth First Search (DFS) is a fundamental graph traversal algorithm.
It explores a graph by going as deep as possible along one branch before backtracking.
DFS works on both directed and undirected graphs.
It is commonly implemented using recursion or an explicit stack.</a:t>
            </a:r>
            <a:endParaRPr lang="en-US" sz="3200" dirty="0">
              <a:solidFill>
                <a:schemeClr val="bg1"/>
              </a:solidFill>
              <a:latin typeface="Amasis MT Pro Black" panose="02040A040500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4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0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DD1D0A-4DD8-4E8E-60C6-6C4A520E68EE}"/>
              </a:ext>
            </a:extLst>
          </p:cNvPr>
          <p:cNvSpPr txBox="1"/>
          <p:nvPr/>
        </p:nvSpPr>
        <p:spPr>
          <a:xfrm>
            <a:off x="455740" y="1393513"/>
            <a:ext cx="8138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What is Depth First Search(DFS).?</a:t>
            </a:r>
            <a:endParaRPr lang="en-US" sz="3200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16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A0BDCD-F506-D85A-CBFE-FC88B7F19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F8C9F-F3C6-F88A-4D50-940DF4F5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282" y="-222425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en-GB" sz="4400" b="1" u="sng" dirty="0">
                <a:solidFill>
                  <a:schemeClr val="accent1"/>
                </a:solidFill>
              </a:rPr>
              <a:t>Basic idea of </a:t>
            </a:r>
            <a:r>
              <a:rPr lang="en-GB" sz="4400" b="1" u="sng" dirty="0" err="1">
                <a:solidFill>
                  <a:schemeClr val="accent1"/>
                </a:solidFill>
              </a:rPr>
              <a:t>dfs</a:t>
            </a:r>
            <a:endParaRPr lang="en-US" sz="4400" b="1" u="sng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A4A14-A004-3546-02A2-1AE4C3326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908" y="1809241"/>
            <a:ext cx="7646290" cy="46264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Start from a source (root) node.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sz="2800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Visit the node and mark it as visited.
Recursively visit an unvisited adjacent node.
If no unvisited adjacent nodes exist, backtrack.
Continue until all reachable nodes are visited.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Red Communication bubbles with copy space are connected each other with black arrows. This image shows the social media, and online communication between people.">
            <a:extLst>
              <a:ext uri="{FF2B5EF4-FFF2-40B4-BE49-F238E27FC236}">
                <a16:creationId xmlns:a16="http://schemas.microsoft.com/office/drawing/2014/main" id="{1FE20B80-0421-40E2-0517-C6D89A018D28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rcRect l="23321" r="37099" b="2"/>
          <a:stretch>
            <a:fillRect/>
          </a:stretch>
        </p:blipFill>
        <p:spPr>
          <a:xfrm>
            <a:off x="8447198" y="1609344"/>
            <a:ext cx="3085177" cy="3964510"/>
          </a:xfrm>
          <a:prstGeom prst="rect">
            <a:avLst/>
          </a:prstGeom>
          <a:blipFill>
            <a:blip r:embed="rId4">
              <a:alphaModFix amt="70000"/>
            </a:blip>
            <a:stretch>
              <a:fillRect/>
            </a:stretch>
          </a:blipFill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latin typeface="Franklin Gothic Medium" panose="020B0603020102020204" pitchFamily="34" charset="0"/>
              </a:rPr>
              <a:t>5</a:t>
            </a:r>
            <a:endParaRPr lang="en-US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pic>
        <p:nvPicPr>
          <p:cNvPr id="11" name="Google Shape;1609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9244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9FF99C-BAA9-404F-9C96-6DD456B4F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C44AFD-C72D-4D9C-84C6-73E615CE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25B14F-36E0-41E8-956F-CABEF1ADD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AFB9EA5-DE4D-4E6B-A302-F55174E4B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44092F4-4D9B-4D0A-8832-C29E786F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F51741-7820-082C-703B-41F4536EBCC9}"/>
              </a:ext>
            </a:extLst>
          </p:cNvPr>
          <p:cNvSpPr txBox="1"/>
          <p:nvPr/>
        </p:nvSpPr>
        <p:spPr>
          <a:xfrm>
            <a:off x="1069848" y="1548628"/>
            <a:ext cx="33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latin typeface="Amasis MT Pro Black" panose="02040A04050005020304" pitchFamily="18" charset="0"/>
              </a:rPr>
              <a:t>DFS Graph:</a:t>
            </a:r>
            <a:endParaRPr lang="en-US" sz="2000" b="1" dirty="0">
              <a:latin typeface="Amasis MT Pro Black" panose="02040A040500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77CD66-C86F-EF4C-3F1B-948C497997C6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C0CB5-FCEB-E419-A3C8-2F4ED4724FA9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722124" y="2231846"/>
            <a:ext cx="1158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29E5A-8414-F128-724A-8E0FB29D6BC0}"/>
              </a:ext>
            </a:extLst>
          </p:cNvPr>
          <p:cNvSpPr txBox="1"/>
          <p:nvPr/>
        </p:nvSpPr>
        <p:spPr>
          <a:xfrm>
            <a:off x="6681113" y="2711785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25F62CFF-48B6-0CCD-015F-7D8C9D1C56DC}"/>
              </a:ext>
            </a:extLst>
          </p:cNvPr>
          <p:cNvCxnSpPr>
            <a:cxnSpLocks/>
            <a:stCxn id="10" idx="5"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920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6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46" name="Google Shape;16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431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219" y="206566"/>
            <a:ext cx="8493819" cy="690252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77CD66-C86F-EF4C-3F1B-948C497997C6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C0CB5-FCEB-E419-A3C8-2F4ED4724FA9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29E5A-8414-F128-724A-8E0FB29D6BC0}"/>
              </a:ext>
            </a:extLst>
          </p:cNvPr>
          <p:cNvSpPr txBox="1"/>
          <p:nvPr/>
        </p:nvSpPr>
        <p:spPr>
          <a:xfrm>
            <a:off x="6681113" y="2711785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0F3E47F-5B70-6218-EBB7-83CC88C86050}"/>
              </a:ext>
            </a:extLst>
          </p:cNvPr>
          <p:cNvCxnSpPr>
            <a:cxnSpLocks/>
            <a:stCxn id="10" idx="5"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6DD1D0A-4DD8-4E8E-60C6-6C4A520E68EE}"/>
              </a:ext>
            </a:extLst>
          </p:cNvPr>
          <p:cNvSpPr txBox="1"/>
          <p:nvPr/>
        </p:nvSpPr>
        <p:spPr>
          <a:xfrm>
            <a:off x="936454" y="1208338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Initial state: node 0 is pushed</a:t>
            </a: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7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49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8045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A77CD66-C86F-EF4C-3F1B-948C497997C6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C0CB5-FCEB-E419-A3C8-2F4ED4724FA9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29E5A-8414-F128-724A-8E0FB29D6BC0}"/>
              </a:ext>
            </a:extLst>
          </p:cNvPr>
          <p:cNvSpPr txBox="1"/>
          <p:nvPr/>
        </p:nvSpPr>
        <p:spPr>
          <a:xfrm>
            <a:off x="6681113" y="2711785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C84EFB-01F5-2B2A-DB9F-62FA78589176}"/>
              </a:ext>
            </a:extLst>
          </p:cNvPr>
          <p:cNvCxnSpPr>
            <a:cxnSpLocks/>
            <a:stCxn id="10" idx="5"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ACF8321-FE15-AC7B-EC0D-7A6BDC1E8D96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5D2986-3C07-050F-AF59-7EC8ECC7B7E6}"/>
              </a:ext>
            </a:extLst>
          </p:cNvPr>
          <p:cNvSpPr txBox="1"/>
          <p:nvPr/>
        </p:nvSpPr>
        <p:spPr>
          <a:xfrm>
            <a:off x="936454" y="1208338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Initial state: </a:t>
            </a:r>
            <a:r>
              <a:rPr lang="en-GB" dirty="0">
                <a:solidFill>
                  <a:srgbClr val="FFFF00"/>
                </a:solidFill>
                <a:latin typeface="Amasis MT Pro Black" panose="02040A04050005020304" pitchFamily="18" charset="0"/>
              </a:rPr>
              <a:t>node 0 is pushed</a:t>
            </a:r>
            <a:endParaRPr lang="en-US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8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48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025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29E5A-8414-F128-724A-8E0FB29D6BC0}"/>
              </a:ext>
            </a:extLst>
          </p:cNvPr>
          <p:cNvSpPr txBox="1"/>
          <p:nvPr/>
        </p:nvSpPr>
        <p:spPr>
          <a:xfrm>
            <a:off x="6681113" y="2711785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B0C96B-AA2B-31BA-BCD4-59BAFE79FE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1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: after visiting 0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8,3,1 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1</a:t>
            </a: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428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9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57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12827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81403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29E5A-8414-F128-724A-8E0FB29D6BC0}"/>
              </a:ext>
            </a:extLst>
          </p:cNvPr>
          <p:cNvSpPr txBox="1"/>
          <p:nvPr/>
        </p:nvSpPr>
        <p:spPr>
          <a:xfrm>
            <a:off x="6681113" y="2711785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B0C96B-AA2B-31BA-BCD4-59BAFE79FE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18067" y="433874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7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1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nodes:7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7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10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62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2935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44D1CD-3BFB-F773-7C09-10D857884466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2EB9D-ABFB-C20A-B070-995B84792AF9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45F549D-7149-0781-DBBE-FD99489858A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42A77E-5E71-DB97-E470-297825511CB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B0C96B-AA2B-31BA-BCD4-59BAFE79FE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2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7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nodes:2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2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11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68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2436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BED3D8-622D-F2EB-9797-7997EADBA0C6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7A320-2671-3D79-6513-1E45E8891938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908324A-C3FB-799C-3930-FFC06FA9D633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B0C96B-AA2B-31BA-BCD4-59BAFE79FECD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5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420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2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5,3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3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9F50AD-E329-B479-F261-9BF80C74D020}"/>
              </a:ext>
            </a:extLst>
          </p:cNvPr>
          <p:cNvSpPr txBox="1"/>
          <p:nvPr/>
        </p:nvSpPr>
        <p:spPr>
          <a:xfrm>
            <a:off x="8878449" y="3891504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3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12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69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5405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06997D4-CCD6-BC3C-E720-E41B4B069C3D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3EF520-EB51-322E-206C-619A1BE058C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A440020-FE02-75E9-7A4F-4F889C8D075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5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63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after visiting 3, 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node 0 already visited.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4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4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9F50AD-E329-B479-F261-9BF80C74D020}"/>
              </a:ext>
            </a:extLst>
          </p:cNvPr>
          <p:cNvSpPr txBox="1"/>
          <p:nvPr/>
        </p:nvSpPr>
        <p:spPr>
          <a:xfrm>
            <a:off x="8878449" y="3891504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4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64AC34E-0FD3-7D87-6D54-6A2738686C84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13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1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474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737CD24-02DB-AA22-87BA-D115F766E4A7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B62665-8CCF-C988-9257-EC19FB00FF02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5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63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4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8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8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9F50AD-E329-B479-F261-9BF80C74D020}"/>
              </a:ext>
            </a:extLst>
          </p:cNvPr>
          <p:cNvSpPr txBox="1"/>
          <p:nvPr/>
        </p:nvSpPr>
        <p:spPr>
          <a:xfrm>
            <a:off x="8878449" y="3891504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8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0EC956F-92DE-3A02-5E34-0046E66E82C6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14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3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4894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E59E7D-7763-404E-1788-8740CF154425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E4E3BA-AFA3-9BCF-A3C8-488DFE768489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BF142A7-78C3-073C-AED3-49A57E13655A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9BF74-B929-0DFC-F68C-6A640477FA4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5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63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8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</a:t>
            </a:r>
            <a:r>
              <a:rPr lang="en-GB" dirty="0">
                <a:solidFill>
                  <a:srgbClr val="FFFF00"/>
                </a:solidFill>
                <a:latin typeface="Amasis MT Pro Black" panose="02040A04050005020304" pitchFamily="18" charset="0"/>
              </a:rPr>
              <a:t>None</a:t>
            </a:r>
            <a:endParaRPr lang="en-US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5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9"/>
            <a:ext cx="876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81BA47-044D-ABBF-0B5B-CF0D2FC53ED1}"/>
              </a:ext>
            </a:extLst>
          </p:cNvPr>
          <p:cNvSpPr/>
          <p:nvPr/>
        </p:nvSpPr>
        <p:spPr>
          <a:xfrm>
            <a:off x="1927452" y="3499126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979B8C-DEEA-C236-A607-7A1AB625FB9F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A135-859B-A423-BDC5-193F2AB35131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9D4BF2-B865-DCA2-D1E9-66576564F2F1}"/>
              </a:ext>
            </a:extLst>
          </p:cNvPr>
          <p:cNvCxnSpPr>
            <a:cxnSpLocks/>
            <a:stCxn id="19" idx="5"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03E5164B-BA3A-4A84-EE04-6A66CB360A57}"/>
              </a:ext>
            </a:extLst>
          </p:cNvPr>
          <p:cNvSpPr/>
          <p:nvPr/>
        </p:nvSpPr>
        <p:spPr>
          <a:xfrm rot="13533467">
            <a:off x="2446020" y="482471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15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4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5664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EB55CA-5896-A9D3-7A23-AABA3C29ADD3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B5A349-00A0-60DC-426B-D8F4F6BAECCC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9FA5B-B830-0B01-3120-E0B43E66CEAD}"/>
              </a:ext>
            </a:extLst>
          </p:cNvPr>
          <p:cNvSpPr txBox="1"/>
          <p:nvPr/>
        </p:nvSpPr>
        <p:spPr>
          <a:xfrm>
            <a:off x="8861414" y="43396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6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835709"/>
            <a:ext cx="63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5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10929" y="1191461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6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88357" y="1478367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6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81BA47-044D-ABBF-0B5B-CF0D2FC53ED1}"/>
              </a:ext>
            </a:extLst>
          </p:cNvPr>
          <p:cNvSpPr/>
          <p:nvPr/>
        </p:nvSpPr>
        <p:spPr>
          <a:xfrm>
            <a:off x="1927452" y="3499126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979B8C-DEEA-C236-A607-7A1AB625FB9F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A135-859B-A423-BDC5-193F2AB35131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9D4BF2-B865-DCA2-D1E9-66576564F2F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03E5164B-BA3A-4A84-EE04-6A66CB360A57}"/>
              </a:ext>
            </a:extLst>
          </p:cNvPr>
          <p:cNvSpPr/>
          <p:nvPr/>
        </p:nvSpPr>
        <p:spPr>
          <a:xfrm rot="13533467">
            <a:off x="2446020" y="482471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24057AA-F067-1960-710B-A5B47DDDAD54}"/>
              </a:ext>
            </a:extLst>
          </p:cNvPr>
          <p:cNvSpPr/>
          <p:nvPr/>
        </p:nvSpPr>
        <p:spPr>
          <a:xfrm>
            <a:off x="7101029" y="4138945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E120BD0-32D6-4BD5-77D1-F7D90BF3FC6C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1F59E7B-0625-AAEA-4AE7-A42B11F4D605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2040700-4A42-5599-46C9-CA08D9B42957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5DCA088-AF59-EEB8-7FA1-5FFD143057E3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261DD534-8811-8B59-5A4F-142230078018}"/>
              </a:ext>
            </a:extLst>
          </p:cNvPr>
          <p:cNvSpPr/>
          <p:nvPr/>
        </p:nvSpPr>
        <p:spPr>
          <a:xfrm rot="1148415">
            <a:off x="6517270" y="4885086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16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8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53752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E55DAA7-3DC2-1AB4-C4C1-E5ECC86C9A86}"/>
              </a:ext>
            </a:extLst>
          </p:cNvPr>
          <p:cNvSpPr txBox="1"/>
          <p:nvPr/>
        </p:nvSpPr>
        <p:spPr>
          <a:xfrm>
            <a:off x="8865142" y="4769142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51F384-D5C1-4959-A955-11D2B0A1F645}"/>
              </a:ext>
            </a:extLst>
          </p:cNvPr>
          <p:cNvSpPr txBox="1"/>
          <p:nvPr/>
        </p:nvSpPr>
        <p:spPr>
          <a:xfrm>
            <a:off x="910929" y="600598"/>
            <a:ext cx="6362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State: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after visiting 6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60E32C-E402-6D18-FC22-07B664A6B088}"/>
              </a:ext>
            </a:extLst>
          </p:cNvPr>
          <p:cNvSpPr txBox="1"/>
          <p:nvPr/>
        </p:nvSpPr>
        <p:spPr>
          <a:xfrm>
            <a:off x="926126" y="896810"/>
            <a:ext cx="57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Push the unvisited neighbour nodes: </a:t>
            </a:r>
            <a:r>
              <a:rPr lang="en-GB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None</a:t>
            </a:r>
            <a:endParaRPr lang="en-US" b="1" dirty="0">
              <a:solidFill>
                <a:srgbClr val="FFFF00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910929" y="1244450"/>
            <a:ext cx="577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3</a:t>
            </a:r>
          </a:p>
          <a:p>
            <a:pPr algn="l"/>
            <a:r>
              <a:rPr lang="en-GB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3 is visited, </a:t>
            </a:r>
            <a:r>
              <a:rPr lang="en-GB" b="1" u="sng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skip. </a:t>
            </a:r>
            <a:endParaRPr lang="en-US" b="1" u="sng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81BA47-044D-ABBF-0B5B-CF0D2FC53ED1}"/>
              </a:ext>
            </a:extLst>
          </p:cNvPr>
          <p:cNvSpPr/>
          <p:nvPr/>
        </p:nvSpPr>
        <p:spPr>
          <a:xfrm>
            <a:off x="1927452" y="3499126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979B8C-DEEA-C236-A607-7A1AB625FB9F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A135-859B-A423-BDC5-193F2AB35131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9D4BF2-B865-DCA2-D1E9-66576564F2F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03E5164B-BA3A-4A84-EE04-6A66CB360A57}"/>
              </a:ext>
            </a:extLst>
          </p:cNvPr>
          <p:cNvSpPr/>
          <p:nvPr/>
        </p:nvSpPr>
        <p:spPr>
          <a:xfrm rot="13533467">
            <a:off x="2446020" y="482471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24057AA-F067-1960-710B-A5B47DDDAD54}"/>
              </a:ext>
            </a:extLst>
          </p:cNvPr>
          <p:cNvSpPr/>
          <p:nvPr/>
        </p:nvSpPr>
        <p:spPr>
          <a:xfrm>
            <a:off x="7101029" y="4138945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E120BD0-32D6-4BD5-77D1-F7D90BF3FC6C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1F59E7B-0625-AAEA-4AE7-A42B11F4D605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5DCA088-AF59-EEB8-7FA1-5FFD143057E3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261DD534-8811-8B59-5A4F-142230078018}"/>
              </a:ext>
            </a:extLst>
          </p:cNvPr>
          <p:cNvSpPr/>
          <p:nvPr/>
        </p:nvSpPr>
        <p:spPr>
          <a:xfrm rot="1148415">
            <a:off x="6517270" y="4885086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DC0DA5-B169-A3F8-D1D9-FB49286E01FA}"/>
              </a:ext>
            </a:extLst>
          </p:cNvPr>
          <p:cNvSpPr/>
          <p:nvPr/>
        </p:nvSpPr>
        <p:spPr>
          <a:xfrm>
            <a:off x="7706098" y="281115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110136-AD10-0B54-F979-5AECD9D4D881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E5172F-EDDB-BB15-2C50-8F12C515D145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5A9F28-4D7D-3DED-FD3C-0254468E71C0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93599914-72A2-9AA7-98BF-D6E46816DE9F}"/>
              </a:ext>
            </a:extLst>
          </p:cNvPr>
          <p:cNvSpPr/>
          <p:nvPr/>
        </p:nvSpPr>
        <p:spPr>
          <a:xfrm rot="17347933">
            <a:off x="7995092" y="406122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17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6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0873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C114AA-0827-08F7-A5F2-62A857486EFD}"/>
              </a:ext>
            </a:extLst>
          </p:cNvPr>
          <p:cNvSpPr txBox="1"/>
          <p:nvPr/>
        </p:nvSpPr>
        <p:spPr>
          <a:xfrm>
            <a:off x="8882565" y="520573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871819" y="1154730"/>
            <a:ext cx="5770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Amasis MT Pro Black" panose="02040A04050005020304" pitchFamily="18" charset="0"/>
              </a:rPr>
              <a:t>Next, visit the top node in the stack: 8</a:t>
            </a:r>
          </a:p>
          <a:p>
            <a:pPr algn="l"/>
            <a:r>
              <a:rPr lang="en-GB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8 is visited, </a:t>
            </a:r>
            <a:r>
              <a:rPr lang="en-GB" b="1" u="sng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skip</a:t>
            </a:r>
            <a:r>
              <a:rPr lang="en-GB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. 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81BA47-044D-ABBF-0B5B-CF0D2FC53ED1}"/>
              </a:ext>
            </a:extLst>
          </p:cNvPr>
          <p:cNvSpPr/>
          <p:nvPr/>
        </p:nvSpPr>
        <p:spPr>
          <a:xfrm>
            <a:off x="1927452" y="3499126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979B8C-DEEA-C236-A607-7A1AB625FB9F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A135-859B-A423-BDC5-193F2AB35131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9D4BF2-B865-DCA2-D1E9-66576564F2F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03E5164B-BA3A-4A84-EE04-6A66CB360A57}"/>
              </a:ext>
            </a:extLst>
          </p:cNvPr>
          <p:cNvSpPr/>
          <p:nvPr/>
        </p:nvSpPr>
        <p:spPr>
          <a:xfrm rot="13533467">
            <a:off x="2446020" y="482471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24057AA-F067-1960-710B-A5B47DDDAD54}"/>
              </a:ext>
            </a:extLst>
          </p:cNvPr>
          <p:cNvSpPr/>
          <p:nvPr/>
        </p:nvSpPr>
        <p:spPr>
          <a:xfrm>
            <a:off x="7101029" y="4138945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E120BD0-32D6-4BD5-77D1-F7D90BF3FC6C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1F59E7B-0625-AAEA-4AE7-A42B11F4D605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5DCA088-AF59-EEB8-7FA1-5FFD143057E3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261DD534-8811-8B59-5A4F-142230078018}"/>
              </a:ext>
            </a:extLst>
          </p:cNvPr>
          <p:cNvSpPr/>
          <p:nvPr/>
        </p:nvSpPr>
        <p:spPr>
          <a:xfrm rot="1148415">
            <a:off x="6517270" y="4885086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DC0DA5-B169-A3F8-D1D9-FB49286E01FA}"/>
              </a:ext>
            </a:extLst>
          </p:cNvPr>
          <p:cNvSpPr/>
          <p:nvPr/>
        </p:nvSpPr>
        <p:spPr>
          <a:xfrm>
            <a:off x="7706098" y="281115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110136-AD10-0B54-F979-5AECD9D4D881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E5172F-EDDB-BB15-2C50-8F12C515D145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5A9F28-4D7D-3DED-FD3C-0254468E71C0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93599914-72A2-9AA7-98BF-D6E46816DE9F}"/>
              </a:ext>
            </a:extLst>
          </p:cNvPr>
          <p:cNvSpPr/>
          <p:nvPr/>
        </p:nvSpPr>
        <p:spPr>
          <a:xfrm rot="17347933">
            <a:off x="7995092" y="406122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18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4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30331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>
            <a:extLst>
              <a:ext uri="{FF2B5EF4-FFF2-40B4-BE49-F238E27FC236}">
                <a16:creationId xmlns:a16="http://schemas.microsoft.com/office/drawing/2014/main" id="{855091EF-C386-9817-E97E-CF07170C4E16}"/>
              </a:ext>
            </a:extLst>
          </p:cNvPr>
          <p:cNvSpPr/>
          <p:nvPr/>
        </p:nvSpPr>
        <p:spPr>
          <a:xfrm>
            <a:off x="2620600" y="21261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CED6943-B28F-D2C7-853D-E8FC237B0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8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EE27897-416F-2493-A64C-3C2D94D8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929" y="91265"/>
            <a:ext cx="10058400" cy="835625"/>
          </a:xfrm>
        </p:spPr>
        <p:txBody>
          <a:bodyPr>
            <a:normAutofit/>
          </a:bodyPr>
          <a:lstStyle/>
          <a:p>
            <a:pPr algn="ctr"/>
            <a:r>
              <a:rPr lang="en-GB" sz="4000" u="sng" dirty="0">
                <a:solidFill>
                  <a:schemeClr val="tx1"/>
                </a:solidFill>
              </a:rPr>
              <a:t>Simulation</a:t>
            </a:r>
            <a:endParaRPr lang="en-US" sz="4000" u="sng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7B2653-5AF2-6387-041B-CEE7F473CEE2}"/>
              </a:ext>
            </a:extLst>
          </p:cNvPr>
          <p:cNvSpPr/>
          <p:nvPr/>
        </p:nvSpPr>
        <p:spPr>
          <a:xfrm>
            <a:off x="0" y="2067755"/>
            <a:ext cx="12188952" cy="40978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3286751-B96F-63B1-102D-CD67E9CAB0C9}"/>
              </a:ext>
            </a:extLst>
          </p:cNvPr>
          <p:cNvSpPr/>
          <p:nvPr/>
        </p:nvSpPr>
        <p:spPr>
          <a:xfrm>
            <a:off x="458776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48C416E-B524-9BF0-529A-58850B276E3F}"/>
              </a:ext>
            </a:extLst>
          </p:cNvPr>
          <p:cNvSpPr/>
          <p:nvPr/>
        </p:nvSpPr>
        <p:spPr>
          <a:xfrm>
            <a:off x="6544677" y="26194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4694932" y="22318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E6F255C-4E22-D0B4-265B-151E07D978A4}"/>
              </a:ext>
            </a:extLst>
          </p:cNvPr>
          <p:cNvCxnSpPr>
            <a:cxnSpLocks/>
            <a:endCxn id="23" idx="2"/>
          </p:cNvCxnSpPr>
          <p:nvPr/>
        </p:nvCxnSpPr>
        <p:spPr>
          <a:xfrm>
            <a:off x="5294137" y="2619437"/>
            <a:ext cx="1250540" cy="40172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919784-CF24-7708-9E9F-8314B86024E4}"/>
              </a:ext>
            </a:extLst>
          </p:cNvPr>
          <p:cNvCxnSpPr>
            <a:cxnSpLocks/>
            <a:endCxn id="21" idx="2"/>
          </p:cNvCxnSpPr>
          <p:nvPr/>
        </p:nvCxnSpPr>
        <p:spPr>
          <a:xfrm>
            <a:off x="3435252" y="2578829"/>
            <a:ext cx="1152509" cy="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61A3F4B-1929-57F7-224D-E6E5AD11F744}"/>
              </a:ext>
            </a:extLst>
          </p:cNvPr>
          <p:cNvCxnSpPr>
            <a:cxnSpLocks/>
          </p:cNvCxnSpPr>
          <p:nvPr/>
        </p:nvCxnSpPr>
        <p:spPr>
          <a:xfrm flipH="1">
            <a:off x="2477537" y="2862889"/>
            <a:ext cx="419630" cy="83218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84C026-6B86-1A1E-8EA3-BBB0F141CD33}"/>
              </a:ext>
            </a:extLst>
          </p:cNvPr>
          <p:cNvSpPr/>
          <p:nvPr/>
        </p:nvSpPr>
        <p:spPr>
          <a:xfrm>
            <a:off x="8861414" y="2067756"/>
            <a:ext cx="536865" cy="3690030"/>
          </a:xfrm>
          <a:prstGeom prst="rect">
            <a:avLst/>
          </a:prstGeom>
          <a:solidFill>
            <a:srgbClr val="93E2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3D9063-6C58-58DE-3530-D45325C4D8E2}"/>
              </a:ext>
            </a:extLst>
          </p:cNvPr>
          <p:cNvSpPr txBox="1"/>
          <p:nvPr/>
        </p:nvSpPr>
        <p:spPr>
          <a:xfrm>
            <a:off x="8770333" y="577703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b="1" dirty="0">
                <a:solidFill>
                  <a:srgbClr val="0070C0"/>
                </a:solidFill>
              </a:rPr>
              <a:t>Stack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63F314-ED84-1D7B-B053-3E2C2826225D}"/>
              </a:ext>
            </a:extLst>
          </p:cNvPr>
          <p:cNvSpPr/>
          <p:nvPr/>
        </p:nvSpPr>
        <p:spPr>
          <a:xfrm>
            <a:off x="9521451" y="2398956"/>
            <a:ext cx="974082" cy="798248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95A6D6F-C113-3B90-64C0-7AEAA0003BFB}"/>
              </a:ext>
            </a:extLst>
          </p:cNvPr>
          <p:cNvSpPr/>
          <p:nvPr/>
        </p:nvSpPr>
        <p:spPr>
          <a:xfrm>
            <a:off x="2644187" y="2029953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23276-E19A-AFBF-73C4-FC1708624166}"/>
              </a:ext>
            </a:extLst>
          </p:cNvPr>
          <p:cNvSpPr txBox="1"/>
          <p:nvPr/>
        </p:nvSpPr>
        <p:spPr>
          <a:xfrm>
            <a:off x="10495532" y="2536470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=Pushed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BAAB9A7-9583-0B2C-67FC-BBEEDE7136D7}"/>
              </a:ext>
            </a:extLst>
          </p:cNvPr>
          <p:cNvSpPr/>
          <p:nvPr/>
        </p:nvSpPr>
        <p:spPr>
          <a:xfrm>
            <a:off x="9534112" y="369719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ED22C-467D-4533-8372-564EAA2A274F}"/>
              </a:ext>
            </a:extLst>
          </p:cNvPr>
          <p:cNvSpPr txBox="1"/>
          <p:nvPr/>
        </p:nvSpPr>
        <p:spPr>
          <a:xfrm>
            <a:off x="10498323" y="3928321"/>
            <a:ext cx="262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=Visited</a:t>
            </a:r>
            <a:endParaRPr lang="en-US" sz="2800" b="1" dirty="0">
              <a:solidFill>
                <a:schemeClr val="accent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8" name="Arrow: Up 27">
            <a:extLst>
              <a:ext uri="{FF2B5EF4-FFF2-40B4-BE49-F238E27FC236}">
                <a16:creationId xmlns:a16="http://schemas.microsoft.com/office/drawing/2014/main" id="{14500E98-138D-2CFE-9480-77C4CDA01E37}"/>
              </a:ext>
            </a:extLst>
          </p:cNvPr>
          <p:cNvSpPr/>
          <p:nvPr/>
        </p:nvSpPr>
        <p:spPr>
          <a:xfrm>
            <a:off x="8619808" y="3619056"/>
            <a:ext cx="169721" cy="213196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6AD53B0-1FDE-E777-32C3-52934548226D}"/>
              </a:ext>
            </a:extLst>
          </p:cNvPr>
          <p:cNvSpPr/>
          <p:nvPr/>
        </p:nvSpPr>
        <p:spPr>
          <a:xfrm>
            <a:off x="2793721" y="21771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974E7A-A2AE-496B-F521-91A1FBA9494F}"/>
              </a:ext>
            </a:extLst>
          </p:cNvPr>
          <p:cNvSpPr txBox="1"/>
          <p:nvPr/>
        </p:nvSpPr>
        <p:spPr>
          <a:xfrm>
            <a:off x="2939931" y="2241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0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1495F4-FA85-17B5-C247-FEE418D59DA7}"/>
              </a:ext>
            </a:extLst>
          </p:cNvPr>
          <p:cNvSpPr/>
          <p:nvPr/>
        </p:nvSpPr>
        <p:spPr>
          <a:xfrm>
            <a:off x="4516880" y="2137188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62228A-8B31-6B2F-B188-4E4443DAAC79}"/>
              </a:ext>
            </a:extLst>
          </p:cNvPr>
          <p:cNvSpPr txBox="1"/>
          <p:nvPr/>
        </p:nvSpPr>
        <p:spPr>
          <a:xfrm>
            <a:off x="1143642" y="518717"/>
            <a:ext cx="57701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dirty="0">
                <a:latin typeface="Amasis MT Pro Black" panose="02040A04050005020304" pitchFamily="18" charset="0"/>
              </a:rPr>
              <a:t>Result: </a:t>
            </a:r>
            <a:r>
              <a:rPr lang="en-GB" sz="2800" dirty="0">
                <a:latin typeface="Amasis MT Pro Black" panose="02040A04050005020304" pitchFamily="18" charset="0"/>
              </a:rPr>
              <a:t>DONE</a:t>
            </a:r>
          </a:p>
          <a:p>
            <a:pPr algn="l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DB486A8-37ED-0D79-B950-73ED5398E2B5}"/>
              </a:ext>
            </a:extLst>
          </p:cNvPr>
          <p:cNvSpPr/>
          <p:nvPr/>
        </p:nvSpPr>
        <p:spPr>
          <a:xfrm>
            <a:off x="4740161" y="232950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E094FC9-8F74-CA0B-F80B-805864F2C438}"/>
              </a:ext>
            </a:extLst>
          </p:cNvPr>
          <p:cNvSpPr txBox="1"/>
          <p:nvPr/>
        </p:nvSpPr>
        <p:spPr>
          <a:xfrm>
            <a:off x="4847332" y="2384246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1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64" name="Arrow: Striped Right 63">
            <a:extLst>
              <a:ext uri="{FF2B5EF4-FFF2-40B4-BE49-F238E27FC236}">
                <a16:creationId xmlns:a16="http://schemas.microsoft.com/office/drawing/2014/main" id="{3B5E956D-C466-CE51-EF5C-41392CD0BD88}"/>
              </a:ext>
            </a:extLst>
          </p:cNvPr>
          <p:cNvSpPr/>
          <p:nvPr/>
        </p:nvSpPr>
        <p:spPr>
          <a:xfrm rot="298629">
            <a:off x="3654405" y="2047879"/>
            <a:ext cx="1046409" cy="387310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906145-EE0E-D6D3-E75B-B77F00A6748F}"/>
              </a:ext>
            </a:extLst>
          </p:cNvPr>
          <p:cNvSpPr/>
          <p:nvPr/>
        </p:nvSpPr>
        <p:spPr>
          <a:xfrm>
            <a:off x="6444948" y="25904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34BB000-B7A2-9FC3-9DE7-D085651FC7A4}"/>
              </a:ext>
            </a:extLst>
          </p:cNvPr>
          <p:cNvSpPr/>
          <p:nvPr/>
        </p:nvSpPr>
        <p:spPr>
          <a:xfrm>
            <a:off x="6697077" y="2771837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90A014-E993-A77C-3247-37FF792ABF44}"/>
              </a:ext>
            </a:extLst>
          </p:cNvPr>
          <p:cNvSpPr txBox="1"/>
          <p:nvPr/>
        </p:nvSpPr>
        <p:spPr>
          <a:xfrm>
            <a:off x="6809166" y="283405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7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Arrow: Striped Right 9">
            <a:extLst>
              <a:ext uri="{FF2B5EF4-FFF2-40B4-BE49-F238E27FC236}">
                <a16:creationId xmlns:a16="http://schemas.microsoft.com/office/drawing/2014/main" id="{381C6596-834E-F5F9-7139-600AFEADE904}"/>
              </a:ext>
            </a:extLst>
          </p:cNvPr>
          <p:cNvSpPr/>
          <p:nvPr/>
        </p:nvSpPr>
        <p:spPr>
          <a:xfrm rot="1217822">
            <a:off x="5566036" y="2296137"/>
            <a:ext cx="898292" cy="275361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Striped Right 15">
            <a:extLst>
              <a:ext uri="{FF2B5EF4-FFF2-40B4-BE49-F238E27FC236}">
                <a16:creationId xmlns:a16="http://schemas.microsoft.com/office/drawing/2014/main" id="{59688FEE-1494-0350-164E-759BA7836172}"/>
              </a:ext>
            </a:extLst>
          </p:cNvPr>
          <p:cNvSpPr/>
          <p:nvPr/>
        </p:nvSpPr>
        <p:spPr>
          <a:xfrm rot="8766908">
            <a:off x="6542797" y="3720009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638DF58-3706-7664-2253-BC63BEC69E88}"/>
              </a:ext>
            </a:extLst>
          </p:cNvPr>
          <p:cNvSpPr/>
          <p:nvPr/>
        </p:nvSpPr>
        <p:spPr>
          <a:xfrm>
            <a:off x="5626086" y="3853882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4DFFE50-47E2-4FAE-9013-F17AC2B6A8C4}"/>
              </a:ext>
            </a:extLst>
          </p:cNvPr>
          <p:cNvSpPr/>
          <p:nvPr/>
        </p:nvSpPr>
        <p:spPr>
          <a:xfrm>
            <a:off x="5838301" y="3939684"/>
            <a:ext cx="706376" cy="803441"/>
          </a:xfrm>
          <a:prstGeom prst="ellipse">
            <a:avLst/>
          </a:prstGeom>
          <a:solidFill>
            <a:srgbClr val="95FE44"/>
          </a:solidFill>
          <a:ln>
            <a:solidFill>
              <a:srgbClr val="95FE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B38C880-2A14-3916-9D44-092780D1A55F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6191489" y="3326364"/>
            <a:ext cx="467052" cy="6133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BBFA5D2-BF4F-F6B0-9058-B89D198DFDD8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4452749" y="4221664"/>
            <a:ext cx="1385552" cy="11974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3DF7C5-A368-19CA-1EE9-2CCB3A2F177B}"/>
              </a:ext>
            </a:extLst>
          </p:cNvPr>
          <p:cNvSpPr txBox="1"/>
          <p:nvPr/>
        </p:nvSpPr>
        <p:spPr>
          <a:xfrm>
            <a:off x="5940129" y="4015578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2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AD35F1-26D0-9B54-493C-EC7D29215374}"/>
              </a:ext>
            </a:extLst>
          </p:cNvPr>
          <p:cNvSpPr/>
          <p:nvPr/>
        </p:nvSpPr>
        <p:spPr>
          <a:xfrm>
            <a:off x="3637874" y="352087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B7F7FCB-FC48-66FC-7EA0-4E934A184FB8}"/>
              </a:ext>
            </a:extLst>
          </p:cNvPr>
          <p:cNvSpPr/>
          <p:nvPr/>
        </p:nvSpPr>
        <p:spPr>
          <a:xfrm>
            <a:off x="3811218" y="367217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85A4EF-3374-573A-DBF8-0D2F7E303795}"/>
              </a:ext>
            </a:extLst>
          </p:cNvPr>
          <p:cNvSpPr txBox="1"/>
          <p:nvPr/>
        </p:nvSpPr>
        <p:spPr>
          <a:xfrm>
            <a:off x="3973689" y="3739979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3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9C77703-66DF-0B40-5F6B-C295F1A93F35}"/>
              </a:ext>
            </a:extLst>
          </p:cNvPr>
          <p:cNvCxnSpPr>
            <a:cxnSpLocks/>
          </p:cNvCxnSpPr>
          <p:nvPr/>
        </p:nvCxnSpPr>
        <p:spPr>
          <a:xfrm>
            <a:off x="3396651" y="2862889"/>
            <a:ext cx="518013" cy="92695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Arrow: Striped Right 68">
            <a:extLst>
              <a:ext uri="{FF2B5EF4-FFF2-40B4-BE49-F238E27FC236}">
                <a16:creationId xmlns:a16="http://schemas.microsoft.com/office/drawing/2014/main" id="{499D585D-1829-CCEA-2642-E70A4E263552}"/>
              </a:ext>
            </a:extLst>
          </p:cNvPr>
          <p:cNvSpPr/>
          <p:nvPr/>
        </p:nvSpPr>
        <p:spPr>
          <a:xfrm rot="11136400">
            <a:off x="4682463" y="435373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86D2C6E-B745-BAA3-5830-FC3ECC7BA8C3}"/>
              </a:ext>
            </a:extLst>
          </p:cNvPr>
          <p:cNvSpPr/>
          <p:nvPr/>
        </p:nvSpPr>
        <p:spPr>
          <a:xfrm>
            <a:off x="3336673" y="5011789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901E644-7091-ABAC-0FA6-12C207D2F7A4}"/>
              </a:ext>
            </a:extLst>
          </p:cNvPr>
          <p:cNvSpPr/>
          <p:nvPr/>
        </p:nvSpPr>
        <p:spPr>
          <a:xfrm>
            <a:off x="3539874" y="516033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E1CE1-6E1B-AF9E-04F4-4D980C2B4999}"/>
              </a:ext>
            </a:extLst>
          </p:cNvPr>
          <p:cNvSpPr txBox="1"/>
          <p:nvPr/>
        </p:nvSpPr>
        <p:spPr>
          <a:xfrm>
            <a:off x="3653532" y="522246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4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9841286-BCE8-2BCB-1B74-AD57FC23D73E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93062" y="4475619"/>
            <a:ext cx="271344" cy="684711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Arrow: Striped Right 67">
            <a:extLst>
              <a:ext uri="{FF2B5EF4-FFF2-40B4-BE49-F238E27FC236}">
                <a16:creationId xmlns:a16="http://schemas.microsoft.com/office/drawing/2014/main" id="{7598F659-8A80-485A-3731-504B082339A5}"/>
              </a:ext>
            </a:extLst>
          </p:cNvPr>
          <p:cNvSpPr/>
          <p:nvPr/>
        </p:nvSpPr>
        <p:spPr>
          <a:xfrm rot="6862633">
            <a:off x="4078027" y="475001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981BA47-044D-ABBF-0B5B-CF0D2FC53ED1}"/>
              </a:ext>
            </a:extLst>
          </p:cNvPr>
          <p:cNvSpPr/>
          <p:nvPr/>
        </p:nvSpPr>
        <p:spPr>
          <a:xfrm>
            <a:off x="1927452" y="3499126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979B8C-DEEA-C236-A607-7A1AB625FB9F}"/>
              </a:ext>
            </a:extLst>
          </p:cNvPr>
          <p:cNvSpPr/>
          <p:nvPr/>
        </p:nvSpPr>
        <p:spPr>
          <a:xfrm>
            <a:off x="2087345" y="3649638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94A135-859B-A423-BDC5-193F2AB35131}"/>
              </a:ext>
            </a:extLst>
          </p:cNvPr>
          <p:cNvSpPr txBox="1"/>
          <p:nvPr/>
        </p:nvSpPr>
        <p:spPr>
          <a:xfrm>
            <a:off x="2249816" y="369507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8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9D4BF2-B865-DCA2-D1E9-66576564F2F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2690275" y="4335418"/>
            <a:ext cx="953045" cy="94257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Arrow: Striped Right 65">
            <a:extLst>
              <a:ext uri="{FF2B5EF4-FFF2-40B4-BE49-F238E27FC236}">
                <a16:creationId xmlns:a16="http://schemas.microsoft.com/office/drawing/2014/main" id="{03E5164B-BA3A-4A84-EE04-6A66CB360A57}"/>
              </a:ext>
            </a:extLst>
          </p:cNvPr>
          <p:cNvSpPr/>
          <p:nvPr/>
        </p:nvSpPr>
        <p:spPr>
          <a:xfrm rot="13533467">
            <a:off x="2446020" y="4824711"/>
            <a:ext cx="836037" cy="277606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24057AA-F067-1960-710B-A5B47DDDAD54}"/>
              </a:ext>
            </a:extLst>
          </p:cNvPr>
          <p:cNvSpPr/>
          <p:nvPr/>
        </p:nvSpPr>
        <p:spPr>
          <a:xfrm>
            <a:off x="7101029" y="4138945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E120BD0-32D6-4BD5-77D1-F7D90BF3FC6C}"/>
              </a:ext>
            </a:extLst>
          </p:cNvPr>
          <p:cNvSpPr/>
          <p:nvPr/>
        </p:nvSpPr>
        <p:spPr>
          <a:xfrm>
            <a:off x="7273831" y="4260189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1F59E7B-0625-AAEA-4AE7-A42B11F4D605}"/>
              </a:ext>
            </a:extLst>
          </p:cNvPr>
          <p:cNvCxnSpPr>
            <a:cxnSpLocks/>
            <a:endCxn id="33" idx="2"/>
          </p:cNvCxnSpPr>
          <p:nvPr/>
        </p:nvCxnSpPr>
        <p:spPr>
          <a:xfrm>
            <a:off x="6425015" y="4519997"/>
            <a:ext cx="848816" cy="141913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5DCA088-AF59-EEB8-7FA1-5FFD143057E3}"/>
              </a:ext>
            </a:extLst>
          </p:cNvPr>
          <p:cNvSpPr txBox="1"/>
          <p:nvPr/>
        </p:nvSpPr>
        <p:spPr>
          <a:xfrm>
            <a:off x="7387489" y="4337753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5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261DD534-8811-8B59-5A4F-142230078018}"/>
              </a:ext>
            </a:extLst>
          </p:cNvPr>
          <p:cNvSpPr/>
          <p:nvPr/>
        </p:nvSpPr>
        <p:spPr>
          <a:xfrm rot="1148415">
            <a:off x="6517270" y="4885086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ADC0DA5-B169-A3F8-D1D9-FB49286E01FA}"/>
              </a:ext>
            </a:extLst>
          </p:cNvPr>
          <p:cNvSpPr/>
          <p:nvPr/>
        </p:nvSpPr>
        <p:spPr>
          <a:xfrm>
            <a:off x="7706098" y="2811151"/>
            <a:ext cx="1032932" cy="1045927"/>
          </a:xfrm>
          <a:prstGeom prst="ellipse">
            <a:avLst/>
          </a:prstGeom>
          <a:solidFill>
            <a:srgbClr val="FEB4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8110136-AD10-0B54-F979-5AECD9D4D881}"/>
              </a:ext>
            </a:extLst>
          </p:cNvPr>
          <p:cNvSpPr/>
          <p:nvPr/>
        </p:nvSpPr>
        <p:spPr>
          <a:xfrm>
            <a:off x="7915362" y="2980550"/>
            <a:ext cx="706376" cy="803441"/>
          </a:xfrm>
          <a:prstGeom prst="ellipse">
            <a:avLst/>
          </a:prstGeom>
          <a:solidFill>
            <a:srgbClr val="95FE4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E5172F-EDDB-BB15-2C50-8F12C515D145}"/>
              </a:ext>
            </a:extLst>
          </p:cNvPr>
          <p:cNvCxnSpPr>
            <a:cxnSpLocks/>
            <a:stCxn id="33" idx="7"/>
            <a:endCxn id="31" idx="3"/>
          </p:cNvCxnSpPr>
          <p:nvPr/>
        </p:nvCxnSpPr>
        <p:spPr>
          <a:xfrm flipV="1">
            <a:off x="7876761" y="3666330"/>
            <a:ext cx="142047" cy="711520"/>
          </a:xfrm>
          <a:prstGeom prst="straightConnector1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5A9F28-4D7D-3DED-FD3C-0254468E71C0}"/>
              </a:ext>
            </a:extLst>
          </p:cNvPr>
          <p:cNvSpPr txBox="1"/>
          <p:nvPr/>
        </p:nvSpPr>
        <p:spPr>
          <a:xfrm>
            <a:off x="8030544" y="3036940"/>
            <a:ext cx="1185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dirty="0">
                <a:solidFill>
                  <a:schemeClr val="bg1"/>
                </a:solidFill>
                <a:latin typeface="Amasis MT Pro Black" panose="02040A04050005020304" pitchFamily="18" charset="0"/>
              </a:rPr>
              <a:t>6</a:t>
            </a:r>
            <a:endParaRPr lang="en-US" sz="28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Arrow: Striped Right 17">
            <a:extLst>
              <a:ext uri="{FF2B5EF4-FFF2-40B4-BE49-F238E27FC236}">
                <a16:creationId xmlns:a16="http://schemas.microsoft.com/office/drawing/2014/main" id="{93599914-72A2-9AA7-98BF-D6E46816DE9F}"/>
              </a:ext>
            </a:extLst>
          </p:cNvPr>
          <p:cNvSpPr/>
          <p:nvPr/>
        </p:nvSpPr>
        <p:spPr>
          <a:xfrm rot="17347933">
            <a:off x="7995092" y="4061229"/>
            <a:ext cx="656386" cy="205432"/>
          </a:xfrm>
          <a:prstGeom prst="stripedRightArrow">
            <a:avLst>
              <a:gd name="adj1" fmla="val 50000"/>
              <a:gd name="adj2" fmla="val 12010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34B54-2680-8426-7C25-5D8292994CA5}"/>
              </a:ext>
            </a:extLst>
          </p:cNvPr>
          <p:cNvSpPr txBox="1"/>
          <p:nvPr/>
        </p:nvSpPr>
        <p:spPr>
          <a:xfrm>
            <a:off x="1143642" y="1088035"/>
            <a:ext cx="5878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dirty="0"/>
              <a:t>The </a:t>
            </a:r>
            <a:r>
              <a:rPr lang="en-GB" b="1" u="sng" dirty="0">
                <a:solidFill>
                  <a:srgbClr val="FFFF00"/>
                </a:solidFill>
              </a:rPr>
              <a:t>Stack</a:t>
            </a:r>
            <a:r>
              <a:rPr lang="en-GB" dirty="0"/>
              <a:t> has become empty.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GB" dirty="0"/>
              <a:t>and all the nodes of the graph have been </a:t>
            </a:r>
            <a:r>
              <a:rPr lang="en-GB" b="1" u="sng" dirty="0">
                <a:solidFill>
                  <a:srgbClr val="FFFF00"/>
                </a:solidFill>
              </a:rPr>
              <a:t>traversed</a:t>
            </a:r>
            <a:endParaRPr lang="en-US" b="1" u="sng" dirty="0">
              <a:solidFill>
                <a:srgbClr val="FFFF00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19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74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514973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7416F3-40A2-377A-97FF-D70695C3B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BBE2C7-49F5-52B0-666B-393772F1B9E8}"/>
              </a:ext>
            </a:extLst>
          </p:cNvPr>
          <p:cNvSpPr txBox="1">
            <a:spLocks/>
          </p:cNvSpPr>
          <p:nvPr/>
        </p:nvSpPr>
        <p:spPr>
          <a:xfrm>
            <a:off x="910929" y="91265"/>
            <a:ext cx="10058400" cy="83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u="sng" dirty="0">
                <a:solidFill>
                  <a:schemeClr val="bg1"/>
                </a:solidFill>
              </a:rPr>
              <a:t>Simulation</a:t>
            </a:r>
            <a:endParaRPr lang="en-US" sz="4000" b="1" u="sng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5EB4D-84E4-B700-16C8-905C80B30801}"/>
              </a:ext>
            </a:extLst>
          </p:cNvPr>
          <p:cNvSpPr txBox="1"/>
          <p:nvPr/>
        </p:nvSpPr>
        <p:spPr>
          <a:xfrm>
            <a:off x="910929" y="926890"/>
            <a:ext cx="577018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dirty="0">
                <a:solidFill>
                  <a:schemeClr val="bg1"/>
                </a:solidFill>
                <a:latin typeface="Algerian" pitchFamily="82" charset="0"/>
              </a:rPr>
              <a:t>Result:</a:t>
            </a:r>
          </a:p>
          <a:p>
            <a:pPr algn="l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B806B-20A7-D0D3-A2FA-99F53307ED19}"/>
              </a:ext>
            </a:extLst>
          </p:cNvPr>
          <p:cNvSpPr txBox="1"/>
          <p:nvPr/>
        </p:nvSpPr>
        <p:spPr>
          <a:xfrm>
            <a:off x="1596341" y="1562460"/>
            <a:ext cx="9284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dirty="0">
                <a:solidFill>
                  <a:schemeClr val="bg1"/>
                </a:solidFill>
                <a:latin typeface="Aptos Slab ExtraBold" panose="020B0004020202020204" pitchFamily="34" charset="0"/>
              </a:rPr>
              <a:t>The printing sequence of the graph will be:</a:t>
            </a:r>
            <a:endParaRPr lang="en-US" sz="2000" dirty="0">
              <a:solidFill>
                <a:schemeClr val="bg1"/>
              </a:solidFill>
              <a:latin typeface="Aptos Slab ExtraBold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25BA-D00F-7066-3DEB-09E222035681}"/>
              </a:ext>
            </a:extLst>
          </p:cNvPr>
          <p:cNvSpPr txBox="1"/>
          <p:nvPr/>
        </p:nvSpPr>
        <p:spPr>
          <a:xfrm>
            <a:off x="1271551" y="2598140"/>
            <a:ext cx="25180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Final Path:-</a:t>
            </a:r>
            <a:endParaRPr lang="en-US" sz="20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44D90-CEDF-1080-79E0-7809141576EF}"/>
              </a:ext>
            </a:extLst>
          </p:cNvPr>
          <p:cNvSpPr txBox="1"/>
          <p:nvPr/>
        </p:nvSpPr>
        <p:spPr>
          <a:xfrm>
            <a:off x="1765383" y="3230724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0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A4EC9B3-A69A-CF48-2BCF-A07232CA4868}"/>
              </a:ext>
            </a:extLst>
          </p:cNvPr>
          <p:cNvSpPr/>
          <p:nvPr/>
        </p:nvSpPr>
        <p:spPr>
          <a:xfrm>
            <a:off x="2234142" y="3384612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9F785E-8DB6-6A7C-7D81-987B79F7CEE1}"/>
              </a:ext>
            </a:extLst>
          </p:cNvPr>
          <p:cNvSpPr txBox="1"/>
          <p:nvPr/>
        </p:nvSpPr>
        <p:spPr>
          <a:xfrm>
            <a:off x="2799625" y="3230724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1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5370065-A90C-9D80-FF3B-74FE571412E7}"/>
              </a:ext>
            </a:extLst>
          </p:cNvPr>
          <p:cNvSpPr/>
          <p:nvPr/>
        </p:nvSpPr>
        <p:spPr>
          <a:xfrm>
            <a:off x="3203129" y="3381762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0723E7-BB60-9DAA-D580-6CD121819833}"/>
              </a:ext>
            </a:extLst>
          </p:cNvPr>
          <p:cNvSpPr txBox="1"/>
          <p:nvPr/>
        </p:nvSpPr>
        <p:spPr>
          <a:xfrm>
            <a:off x="3654939" y="3184559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7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F2ECF83-FFEF-8FB8-2804-EB47A4B3C65B}"/>
              </a:ext>
            </a:extLst>
          </p:cNvPr>
          <p:cNvSpPr/>
          <p:nvPr/>
        </p:nvSpPr>
        <p:spPr>
          <a:xfrm>
            <a:off x="4119744" y="3381762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EE0384-CC81-4227-0E5F-AEB2650654E7}"/>
              </a:ext>
            </a:extLst>
          </p:cNvPr>
          <p:cNvSpPr txBox="1"/>
          <p:nvPr/>
        </p:nvSpPr>
        <p:spPr>
          <a:xfrm>
            <a:off x="4728388" y="3227874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2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5BA081F-3E04-41E2-06FD-1E6CD3AAC6EF}"/>
              </a:ext>
            </a:extLst>
          </p:cNvPr>
          <p:cNvSpPr/>
          <p:nvPr/>
        </p:nvSpPr>
        <p:spPr>
          <a:xfrm>
            <a:off x="5248049" y="3380088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DB1354-5C4B-33F6-35D1-E66F4B122D30}"/>
              </a:ext>
            </a:extLst>
          </p:cNvPr>
          <p:cNvSpPr txBox="1"/>
          <p:nvPr/>
        </p:nvSpPr>
        <p:spPr>
          <a:xfrm>
            <a:off x="5805533" y="3274012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3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02778175-852B-D2C0-6F1A-56E96411F684}"/>
              </a:ext>
            </a:extLst>
          </p:cNvPr>
          <p:cNvSpPr/>
          <p:nvPr/>
        </p:nvSpPr>
        <p:spPr>
          <a:xfrm>
            <a:off x="6259497" y="3386610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0A064B-9C09-0F55-5D24-C962315FB5B6}"/>
              </a:ext>
            </a:extLst>
          </p:cNvPr>
          <p:cNvSpPr txBox="1"/>
          <p:nvPr/>
        </p:nvSpPr>
        <p:spPr>
          <a:xfrm>
            <a:off x="6901751" y="3226200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4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C85A1F4-6241-1ED9-C48F-B9F47F8C3317}"/>
              </a:ext>
            </a:extLst>
          </p:cNvPr>
          <p:cNvSpPr/>
          <p:nvPr/>
        </p:nvSpPr>
        <p:spPr>
          <a:xfrm>
            <a:off x="7345317" y="3429000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FC0A6B-B197-72BF-B5E1-B747AE3DFF59}"/>
              </a:ext>
            </a:extLst>
          </p:cNvPr>
          <p:cNvSpPr txBox="1"/>
          <p:nvPr/>
        </p:nvSpPr>
        <p:spPr>
          <a:xfrm>
            <a:off x="7916241" y="3274012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8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3423552F-EAF3-553F-5D2F-7C259014742F}"/>
              </a:ext>
            </a:extLst>
          </p:cNvPr>
          <p:cNvSpPr/>
          <p:nvPr/>
        </p:nvSpPr>
        <p:spPr>
          <a:xfrm>
            <a:off x="8425383" y="3450692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36DE4E-02B5-B98B-C7BD-E777B0272B40}"/>
              </a:ext>
            </a:extLst>
          </p:cNvPr>
          <p:cNvSpPr txBox="1"/>
          <p:nvPr/>
        </p:nvSpPr>
        <p:spPr>
          <a:xfrm>
            <a:off x="9012459" y="3296804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5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BF5C0BE9-AAA9-8DE3-1C33-0CB66090DA2D}"/>
              </a:ext>
            </a:extLst>
          </p:cNvPr>
          <p:cNvSpPr/>
          <p:nvPr/>
        </p:nvSpPr>
        <p:spPr>
          <a:xfrm>
            <a:off x="9498128" y="3450692"/>
            <a:ext cx="592892" cy="400110"/>
          </a:xfrm>
          <a:prstGeom prst="rightArrow">
            <a:avLst>
              <a:gd name="adj1" fmla="val 37755"/>
              <a:gd name="adj2" fmla="val 1049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CCBDD12-CC30-3070-63D0-D472E43845CA}"/>
              </a:ext>
            </a:extLst>
          </p:cNvPr>
          <p:cNvSpPr txBox="1"/>
          <p:nvPr/>
        </p:nvSpPr>
        <p:spPr>
          <a:xfrm>
            <a:off x="10091020" y="3296804"/>
            <a:ext cx="690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4000" b="1" dirty="0">
                <a:solidFill>
                  <a:schemeClr val="bg1"/>
                </a:solidFill>
                <a:latin typeface="Algerian" pitchFamily="82" charset="0"/>
              </a:rPr>
              <a:t>6</a:t>
            </a:r>
            <a:endParaRPr lang="en-US" sz="4000" b="1" dirty="0">
              <a:solidFill>
                <a:schemeClr val="bg1"/>
              </a:solidFill>
              <a:latin typeface="Algerian" pitchFamily="82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043A2E-5A98-537D-D3A8-F1EE3CACFF0A}"/>
              </a:ext>
            </a:extLst>
          </p:cNvPr>
          <p:cNvSpPr txBox="1"/>
          <p:nvPr/>
        </p:nvSpPr>
        <p:spPr>
          <a:xfrm>
            <a:off x="1596341" y="4808388"/>
            <a:ext cx="9284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All nodes are converted by DFS algorithm. </a:t>
            </a:r>
            <a:endParaRPr lang="en-US" sz="2400" b="1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20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34" name="Google Shape;16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009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33220E-C81A-82B8-7B4F-339D7D2E8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15F6E5-9398-39BF-CF92-8E864AE1AE4E}"/>
              </a:ext>
            </a:extLst>
          </p:cNvPr>
          <p:cNvSpPr txBox="1">
            <a:spLocks/>
          </p:cNvSpPr>
          <p:nvPr/>
        </p:nvSpPr>
        <p:spPr>
          <a:xfrm>
            <a:off x="910929" y="91265"/>
            <a:ext cx="10058400" cy="835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72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800" b="1" dirty="0">
                <a:solidFill>
                  <a:schemeClr val="bg1"/>
                </a:solidFill>
              </a:rPr>
              <a:t>DFS algorithm (pseudo code) 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9" name="Content Placeholder 4" descr="Computer script on a screen">
            <a:extLst>
              <a:ext uri="{FF2B5EF4-FFF2-40B4-BE49-F238E27FC236}">
                <a16:creationId xmlns:a16="http://schemas.microsoft.com/office/drawing/2014/main" id="{4E5F4415-7F5D-762D-7E82-F22E6652C9C1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rcRect l="2331" r="42944" b="-2"/>
          <a:stretch>
            <a:fillRect/>
          </a:stretch>
        </p:blipFill>
        <p:spPr>
          <a:xfrm>
            <a:off x="7378658" y="822344"/>
            <a:ext cx="4589224" cy="5651217"/>
          </a:xfrm>
          <a:prstGeom prst="rect">
            <a:avLst/>
          </a:prstGeom>
          <a:blipFill>
            <a:blip r:embed="rId5">
              <a:alphaModFix amt="70000"/>
            </a:blip>
            <a:stretch>
              <a:fillRect/>
            </a:stretch>
          </a:blip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8587EB-A4E3-639D-F780-A1DC73D46CB3}"/>
              </a:ext>
            </a:extLst>
          </p:cNvPr>
          <p:cNvSpPr txBox="1"/>
          <p:nvPr/>
        </p:nvSpPr>
        <p:spPr>
          <a:xfrm>
            <a:off x="1574478" y="1166842"/>
            <a:ext cx="49618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DFS(Graph, start):
    mark all nodes as unvisited
    call </a:t>
            </a:r>
            <a:r>
              <a:rPr lang="en-GB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DFS_Visit</a:t>
            </a: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(start)
</a:t>
            </a:r>
            <a:r>
              <a:rPr lang="en-GB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DFS_Visit</a:t>
            </a: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(node):
     mark node as visited
     print node
      for each adjacent node x:
         if x is not visited:
             </a:t>
            </a:r>
            <a:r>
              <a:rPr lang="en-GB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DFS_Visit</a:t>
            </a:r>
            <a:r>
              <a:rPr lang="en-GB" sz="2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en-GB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	}</a:t>
            </a:r>
            <a:endParaRPr lang="en-U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21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3" name="Google Shape;1609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19745" y="91265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6678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08FC3-19EB-0648-408D-94503D85F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75ABE-E8A3-2329-4230-9D243239E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71750FD-68DC-F8CE-5B9C-05057DD374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-47917"/>
            <a:ext cx="12277189" cy="6905917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A3CC7309-50F3-D589-37E1-2A6E876B3575}"/>
              </a:ext>
            </a:extLst>
          </p:cNvPr>
          <p:cNvSpPr txBox="1">
            <a:spLocks/>
          </p:cNvSpPr>
          <p:nvPr/>
        </p:nvSpPr>
        <p:spPr>
          <a:xfrm>
            <a:off x="1066800" y="-175496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b="1" dirty="0">
                <a:solidFill>
                  <a:schemeClr val="bg1"/>
                </a:solidFill>
              </a:rPr>
              <a:t>Application of </a:t>
            </a:r>
            <a:r>
              <a:rPr lang="en-GB" b="1" dirty="0" err="1">
                <a:solidFill>
                  <a:schemeClr val="bg1"/>
                </a:solidFill>
              </a:rPr>
              <a:t>dfs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C255A-63E8-9E02-E991-474A3CD1A978}"/>
              </a:ext>
            </a:extLst>
          </p:cNvPr>
          <p:cNvSpPr txBox="1"/>
          <p:nvPr/>
        </p:nvSpPr>
        <p:spPr>
          <a:xfrm>
            <a:off x="475943" y="1561426"/>
            <a:ext cx="85335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Wingdings" panose="05000000000000000000" pitchFamily="2" charset="2"/>
              <a:buChar char="v"/>
            </a:pPr>
            <a:r>
              <a:rPr lang="en-GB" sz="36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For finding the path. 
To test if the graph is bipartite. 
For finding the strongly connected components of a graph. 
For detecting cycles in a graph. </a:t>
            </a:r>
            <a:endParaRPr lang="en-US" sz="36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D48092D8-643B-54A0-CD22-60CD2AF1352B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rcRect l="24824" r="30703" b="-1"/>
          <a:stretch>
            <a:fillRect/>
          </a:stretch>
        </p:blipFill>
        <p:spPr>
          <a:xfrm>
            <a:off x="8841369" y="1059800"/>
            <a:ext cx="3085177" cy="5202936"/>
          </a:xfrm>
          <a:prstGeom prst="rect">
            <a:avLst/>
          </a:prstGeom>
          <a:blipFill>
            <a:blip r:embed="rId5">
              <a:alphaModFix amt="70000"/>
            </a:blip>
            <a:stretch>
              <a:fillRect/>
            </a:stretch>
          </a:blipFill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22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6" name="Google Shape;1609;p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82304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E43E05-1F67-551B-0E22-99BC0E49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94291A-D12F-6539-AD76-EEA214EA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328" y="33056"/>
            <a:ext cx="10058400" cy="1609344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Pros &amp; cons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18C08E-1903-5B7A-BA93-436A66A5F5D4}"/>
              </a:ext>
            </a:extLst>
          </p:cNvPr>
          <p:cNvSpPr/>
          <p:nvPr/>
        </p:nvSpPr>
        <p:spPr>
          <a:xfrm>
            <a:off x="330065" y="1931487"/>
            <a:ext cx="11576694" cy="3838524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978D1C-88F2-0D0B-E767-632EBB2B6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masis MT Pro Black" panose="02040A04050005020304" pitchFamily="18" charset="0"/>
              </a:rPr>
              <a:t>Pros</a:t>
            </a:r>
            <a:endParaRPr lang="en-US" sz="4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6DB38F-283C-1FCE-69B7-734B6D465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999" y="2909455"/>
            <a:ext cx="5329681" cy="2860556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Simple and easy to implement. 
Requires less memory compared to BFS. 
Useful for deep exploration problems. 
Helps in solving recursive problems efficiently. </a:t>
            </a:r>
            <a:endParaRPr lang="en-US" sz="24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6C111C-5014-B6DA-8F99-608AD8BA2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masis MT Pro Black" panose="02040A04050005020304" pitchFamily="18" charset="0"/>
              </a:rPr>
              <a:t>Cons</a:t>
            </a:r>
            <a:endParaRPr lang="en-US" sz="4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B0632E-6883-B782-9781-5E6D25734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83614" y="2977423"/>
            <a:ext cx="5950281" cy="263699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200" b="1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May go deep into infinite paths if not handled properly. 
Does not guarantee the shortest path. 
Recursive DFS may cause stack overflow for very large graphs. 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3D5F9D-3B95-0251-DF44-B34D60C2FCAA}"/>
              </a:ext>
            </a:extLst>
          </p:cNvPr>
          <p:cNvCxnSpPr>
            <a:cxnSpLocks/>
          </p:cNvCxnSpPr>
          <p:nvPr/>
        </p:nvCxnSpPr>
        <p:spPr>
          <a:xfrm flipH="1">
            <a:off x="5821680" y="1931487"/>
            <a:ext cx="9144" cy="383852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25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9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2684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0F1DC-C90A-8FB5-38C4-D7658E65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12416AA2-DCD5-DACA-6B61-D149BBCC81D4}"/>
              </a:ext>
            </a:extLst>
          </p:cNvPr>
          <p:cNvSpPr txBox="1">
            <a:spLocks/>
          </p:cNvSpPr>
          <p:nvPr/>
        </p:nvSpPr>
        <p:spPr>
          <a:xfrm>
            <a:off x="1066800" y="-175496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500" b="1" dirty="0">
                <a:solidFill>
                  <a:schemeClr val="bg1"/>
                </a:solidFill>
              </a:rPr>
              <a:t>Time complexity analysis</a:t>
            </a:r>
            <a:endParaRPr lang="en-US" sz="45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412256-EFD4-96FB-A072-F1D87D3C283B}"/>
              </a:ext>
            </a:extLst>
          </p:cNvPr>
          <p:cNvSpPr txBox="1"/>
          <p:nvPr/>
        </p:nvSpPr>
        <p:spPr>
          <a:xfrm>
            <a:off x="1414383" y="1609344"/>
            <a:ext cx="52235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Let V = number of vertices
Let E = number of edges</a:t>
            </a:r>
            <a:endParaRPr lang="en-US" sz="24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B2C24-DBA6-54A8-3BCA-23F73C36D39B}"/>
              </a:ext>
            </a:extLst>
          </p:cNvPr>
          <p:cNvSpPr txBox="1"/>
          <p:nvPr/>
        </p:nvSpPr>
        <p:spPr>
          <a:xfrm>
            <a:off x="1414383" y="2615837"/>
            <a:ext cx="96085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Time Complexity:</a:t>
            </a: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
      </a:t>
            </a:r>
            <a:r>
              <a:rPr lang="en-GB" sz="28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Using Adjacency List: O(V + E)
     Using Adjacency Matrix: O(V²)</a:t>
            </a:r>
            <a:endParaRPr lang="en-US" sz="28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23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5" name="Google Shape;16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42780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0F1DC-C90A-8FB5-38C4-D7658E65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12416AA2-DCD5-DACA-6B61-D149BBCC81D4}"/>
              </a:ext>
            </a:extLst>
          </p:cNvPr>
          <p:cNvSpPr txBox="1">
            <a:spLocks/>
          </p:cNvSpPr>
          <p:nvPr/>
        </p:nvSpPr>
        <p:spPr>
          <a:xfrm>
            <a:off x="1066800" y="228401"/>
            <a:ext cx="10058400" cy="1094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000" b="1" dirty="0">
                <a:solidFill>
                  <a:schemeClr val="bg1"/>
                </a:solidFill>
              </a:rPr>
              <a:t>Space complexity analysis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B2C24-DBA6-54A8-3BCA-23F73C36D39B}"/>
              </a:ext>
            </a:extLst>
          </p:cNvPr>
          <p:cNvSpPr txBox="1"/>
          <p:nvPr/>
        </p:nvSpPr>
        <p:spPr>
          <a:xfrm>
            <a:off x="1793190" y="1965611"/>
            <a:ext cx="960853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Space required for visited array: O(V)
Recursive call stack (worst case): O(V)</a:t>
            </a:r>
            <a:r>
              <a:rPr lang="en-GB" sz="36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
Total Space Complexity: O(V)</a:t>
            </a:r>
            <a:endParaRPr lang="en-US" sz="28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24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2" name="Google Shape;16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219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E43E05-1F67-551B-0E22-99BC0E493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294291A-D12F-6539-AD76-EEA214EA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328" y="33056"/>
            <a:ext cx="10058400" cy="1609344"/>
          </a:xfrm>
        </p:spPr>
        <p:txBody>
          <a:bodyPr/>
          <a:lstStyle/>
          <a:p>
            <a:pPr algn="ctr"/>
            <a:r>
              <a:rPr lang="en-GB" b="1" dirty="0" err="1">
                <a:solidFill>
                  <a:schemeClr val="bg1"/>
                </a:solidFill>
              </a:rPr>
              <a:t>Dfs</a:t>
            </a:r>
            <a:r>
              <a:rPr lang="en-GB" b="1" dirty="0">
                <a:solidFill>
                  <a:schemeClr val="bg1"/>
                </a:solidFill>
              </a:rPr>
              <a:t> vs </a:t>
            </a:r>
            <a:r>
              <a:rPr lang="en-GB" b="1" dirty="0" err="1">
                <a:solidFill>
                  <a:schemeClr val="bg1"/>
                </a:solidFill>
              </a:rPr>
              <a:t>bfs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18C08E-1903-5B7A-BA93-436A66A5F5D4}"/>
              </a:ext>
            </a:extLst>
          </p:cNvPr>
          <p:cNvSpPr/>
          <p:nvPr/>
        </p:nvSpPr>
        <p:spPr>
          <a:xfrm>
            <a:off x="1063752" y="1931487"/>
            <a:ext cx="10219552" cy="3373989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978D1C-88F2-0D0B-E767-632EBB2B6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masis MT Pro Black" panose="02040A04050005020304" pitchFamily="18" charset="0"/>
              </a:rPr>
              <a:t>DFS</a:t>
            </a:r>
            <a:endParaRPr lang="en-US" sz="4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A6DB38F-283C-1FCE-69B7-734B6D465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256227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Uses stack / recursion
Goes deep first
Less memory usage
Not shortest path</a:t>
            </a:r>
            <a:endParaRPr lang="en-US" sz="24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B6C111C-5014-B6DA-8F99-608AD8BA21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masis MT Pro Black" panose="02040A04050005020304" pitchFamily="18" charset="0"/>
              </a:rPr>
              <a:t>BFS</a:t>
            </a:r>
            <a:endParaRPr lang="en-US" sz="40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B0632E-6883-B782-9781-5E6D25734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223" y="2743200"/>
            <a:ext cx="5212471" cy="239113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Uses queue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Explores level by level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More memory usage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b="1" dirty="0">
                <a:solidFill>
                  <a:schemeClr val="bg1"/>
                </a:solidFill>
                <a:latin typeface="Amasis MT Pro Black" panose="02040A04050005020304" pitchFamily="18" charset="0"/>
                <a:cs typeface="Times New Roman" panose="02020603050405020304" pitchFamily="18" charset="0"/>
              </a:rPr>
              <a:t>Finds shortest path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3D5F9D-3B95-0251-DF44-B34D60C2FCAA}"/>
              </a:ext>
            </a:extLst>
          </p:cNvPr>
          <p:cNvCxnSpPr>
            <a:cxnSpLocks/>
          </p:cNvCxnSpPr>
          <p:nvPr/>
        </p:nvCxnSpPr>
        <p:spPr>
          <a:xfrm flipH="1">
            <a:off x="5821680" y="1931487"/>
            <a:ext cx="9144" cy="3838524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26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6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5407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0F1DC-C90A-8FB5-38C4-D7658E65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4">
            <a:extLst>
              <a:ext uri="{FF2B5EF4-FFF2-40B4-BE49-F238E27FC236}">
                <a16:creationId xmlns:a16="http://schemas.microsoft.com/office/drawing/2014/main" id="{60B7198A-693F-1BA6-3D82-60587CB8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565" y="-103352"/>
            <a:ext cx="11964622" cy="1214587"/>
          </a:xfrm>
        </p:spPr>
        <p:txBody>
          <a:bodyPr anchor="ctr">
            <a:norm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</a:rPr>
              <a:t>Running a Sample Code (python)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79C178-E28B-289E-4A7C-0667CB23D58E}"/>
              </a:ext>
            </a:extLst>
          </p:cNvPr>
          <p:cNvSpPr/>
          <p:nvPr/>
        </p:nvSpPr>
        <p:spPr>
          <a:xfrm>
            <a:off x="330063" y="1030360"/>
            <a:ext cx="11491123" cy="5488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8FB38-7B48-41EB-8DB0-45D535AAA04D}"/>
              </a:ext>
            </a:extLst>
          </p:cNvPr>
          <p:cNvSpPr txBox="1"/>
          <p:nvPr/>
        </p:nvSpPr>
        <p:spPr>
          <a:xfrm>
            <a:off x="485316" y="1030360"/>
            <a:ext cx="6115967" cy="569386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DFS using Adjacency List
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(graph, visited, node):
    # Mark the current node as visited
   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visited.add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(node)
    print(node, end=“ “)
    # Visit all adjacent unvisited nodes
    for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graph[node]:
        if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 in visited:
           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(graph, visited, neighbour)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Main program
vertices =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(input(“Enter number of vertices: “))
edges =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(input(“Enter number of edges: “))
# Create adjacency list
graph = {}
for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range(vertices):
    graph[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[]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print(“Enter edges (source destination):”)
for _ in range(edges):
    u, v = map(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input().split())
    graph[u].append(v)
    graph[v].append(u)   # undirected graph
start = 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(input(“Enter starting vertex: “))
visited = set()
print(“DFS Traversal:”)
</a:t>
            </a:r>
            <a:r>
              <a:rPr lang="en-GB" sz="1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GB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(graph, visited, start)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18B574-CF73-03FC-6611-62C0B4CCF6B5}"/>
              </a:ext>
            </a:extLst>
          </p:cNvPr>
          <p:cNvSpPr/>
          <p:nvPr/>
        </p:nvSpPr>
        <p:spPr>
          <a:xfrm>
            <a:off x="5797311" y="1030360"/>
            <a:ext cx="6023875" cy="5488844"/>
          </a:xfrm>
          <a:prstGeom prst="rect">
            <a:avLst/>
          </a:prstGeom>
          <a:solidFill>
            <a:srgbClr val="F2EBD8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8C67F-5298-AE70-F578-8E5D856F9256}"/>
              </a:ext>
            </a:extLst>
          </p:cNvPr>
          <p:cNvSpPr txBox="1"/>
          <p:nvPr/>
        </p:nvSpPr>
        <p:spPr>
          <a:xfrm>
            <a:off x="5797311" y="958309"/>
            <a:ext cx="3688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u="sng" dirty="0">
                <a:latin typeface="Amasis MT Pro Black" panose="02040A04050005020304" pitchFamily="18" charset="0"/>
              </a:rPr>
              <a:t>Sample Input:</a:t>
            </a:r>
            <a:endParaRPr lang="en-US" sz="2800" b="1" u="sng" dirty="0">
              <a:latin typeface="Amasis MT Pro Black" panose="02040A040500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4C1B3-8D2C-E6F9-7509-2D2ACD8A6224}"/>
              </a:ext>
            </a:extLst>
          </p:cNvPr>
          <p:cNvSpPr txBox="1"/>
          <p:nvPr/>
        </p:nvSpPr>
        <p:spPr>
          <a:xfrm>
            <a:off x="4474812" y="4078713"/>
            <a:ext cx="522357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sz="2400" b="1" dirty="0">
              <a:latin typeface="Amasis MT Pro Black" panose="02040A04050005020304" pitchFamily="18" charset="0"/>
            </a:endParaRPr>
          </a:p>
          <a:p>
            <a:pPr algn="l"/>
            <a:endParaRPr lang="en-US" sz="24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1B173A-0C24-65B5-07E5-7A9D260C0F37}"/>
              </a:ext>
            </a:extLst>
          </p:cNvPr>
          <p:cNvSpPr txBox="1"/>
          <p:nvPr/>
        </p:nvSpPr>
        <p:spPr>
          <a:xfrm>
            <a:off x="5832050" y="4446212"/>
            <a:ext cx="36889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u="sng" dirty="0">
                <a:latin typeface="Amasis MT Pro Black" panose="02040A04050005020304" pitchFamily="18" charset="0"/>
              </a:rPr>
              <a:t>Output:</a:t>
            </a:r>
            <a:endParaRPr lang="en-US" sz="2800" b="1" u="sng" dirty="0">
              <a:latin typeface="Amasis MT Pro Black" panose="02040A040500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BDDB878-4D84-4587-DF28-9095356C6EBC}"/>
              </a:ext>
            </a:extLst>
          </p:cNvPr>
          <p:cNvSpPr/>
          <p:nvPr/>
        </p:nvSpPr>
        <p:spPr>
          <a:xfrm>
            <a:off x="5959746" y="1578493"/>
            <a:ext cx="5061137" cy="2867717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64B828-BF3F-56B5-C5CA-22D6B22DDA34}"/>
              </a:ext>
            </a:extLst>
          </p:cNvPr>
          <p:cNvSpPr txBox="1"/>
          <p:nvPr/>
        </p:nvSpPr>
        <p:spPr>
          <a:xfrm>
            <a:off x="6601283" y="1647321"/>
            <a:ext cx="59203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number of vertices: 5
Enter number of edges: 4</a:t>
            </a:r>
          </a:p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edges:
0 1
0 2
1 3
1 4
Enter starting vertex: 0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0966A5A-CF8B-D49A-244C-B098BC2D3E4D}"/>
              </a:ext>
            </a:extLst>
          </p:cNvPr>
          <p:cNvSpPr/>
          <p:nvPr/>
        </p:nvSpPr>
        <p:spPr>
          <a:xfrm>
            <a:off x="6000025" y="5164594"/>
            <a:ext cx="5020857" cy="95831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82EF12-4997-2480-7259-1F1E3F6AA27D}"/>
              </a:ext>
            </a:extLst>
          </p:cNvPr>
          <p:cNvSpPr txBox="1"/>
          <p:nvPr/>
        </p:nvSpPr>
        <p:spPr>
          <a:xfrm>
            <a:off x="6601283" y="5217414"/>
            <a:ext cx="5920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 Traversal:
0 1 3 4 2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28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20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8591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801D1F-3592-9C76-46E6-237CC90FC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561E4D8B-9A9C-1115-0619-5B5FF070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-175496"/>
            <a:ext cx="10058400" cy="1609344"/>
          </a:xfrm>
        </p:spPr>
        <p:txBody>
          <a:bodyPr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Conclusion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B9834-99B3-795D-C5B4-EE38F70A290E}"/>
              </a:ext>
            </a:extLst>
          </p:cNvPr>
          <p:cNvSpPr txBox="1"/>
          <p:nvPr/>
        </p:nvSpPr>
        <p:spPr>
          <a:xfrm>
            <a:off x="925403" y="1639905"/>
            <a:ext cx="10773538" cy="353943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DFS is a powerful graph traversal technique.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GB" sz="32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Best suited for problems requiring deep exploration.
Plays a vital role in graph algorithms and real-life applications.
Understanding DFS helps in mastering advanced algorithms.</a:t>
            </a:r>
            <a:endParaRPr lang="en-US" sz="32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27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2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205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0F1DC-C90A-8FB5-38C4-D7658E65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8DCAC2-5AF1-26B7-034C-61CCDD8A21A5}"/>
              </a:ext>
            </a:extLst>
          </p:cNvPr>
          <p:cNvSpPr txBox="1"/>
          <p:nvPr/>
        </p:nvSpPr>
        <p:spPr>
          <a:xfrm>
            <a:off x="256715" y="3429000"/>
            <a:ext cx="11381102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GB" sz="8000" b="1" u="sng" dirty="0">
                <a:solidFill>
                  <a:srgbClr val="C00000"/>
                </a:solidFill>
                <a:latin typeface="Amasis MT Pro Black" panose="02040A04050005020304" pitchFamily="18" charset="0"/>
              </a:rPr>
              <a:t>#JusticeForHadi 
#WeAreOsmanHadi </a:t>
            </a:r>
            <a:endParaRPr lang="en-US" sz="4800" b="1" u="sng" dirty="0">
              <a:solidFill>
                <a:srgbClr val="C00000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734832-EE1E-CBD1-5749-006F2B59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3180512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29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1" name="Google Shape;1609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38116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E40F1DC-C90A-8FB5-38C4-D7658E651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8DCAC2-5AF1-26B7-034C-61CCDD8A21A5}"/>
              </a:ext>
            </a:extLst>
          </p:cNvPr>
          <p:cNvSpPr txBox="1"/>
          <p:nvPr/>
        </p:nvSpPr>
        <p:spPr>
          <a:xfrm>
            <a:off x="3044128" y="2644485"/>
            <a:ext cx="7057262" cy="132343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GB" sz="8000" b="1" dirty="0">
                <a:solidFill>
                  <a:srgbClr val="FFFF00"/>
                </a:solidFill>
                <a:latin typeface="Amasis MT Pro Black" panose="02040A04050005020304" pitchFamily="18" charset="0"/>
              </a:rPr>
              <a:t>Thank You!!! </a:t>
            </a:r>
            <a:endParaRPr lang="en-US" sz="4800"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B9BEB-D605-31FF-8589-AAE4EF5CF118}"/>
              </a:ext>
            </a:extLst>
          </p:cNvPr>
          <p:cNvSpPr txBox="1"/>
          <p:nvPr/>
        </p:nvSpPr>
        <p:spPr>
          <a:xfrm>
            <a:off x="7430847" y="4128514"/>
            <a:ext cx="6081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3600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Any Questions??? </a:t>
            </a:r>
            <a:endParaRPr lang="en-US" sz="3600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1EAE3000-9B31-54C3-60E7-0A4E0388B0A3}"/>
              </a:ext>
            </a:extLst>
          </p:cNvPr>
          <p:cNvSpPr/>
          <p:nvPr/>
        </p:nvSpPr>
        <p:spPr>
          <a:xfrm>
            <a:off x="5316071" y="694447"/>
            <a:ext cx="1828800" cy="1828800"/>
          </a:xfrm>
          <a:prstGeom prst="smileyFace">
            <a:avLst/>
          </a:prstGeom>
          <a:solidFill>
            <a:srgbClr val="FFFF00"/>
          </a:solidFill>
          <a:ln>
            <a:solidFill>
              <a:srgbClr val="0084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68B9961-F007-40D1-AF51-61B6DE510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FDF494-C7FB-47DF-BD39-1F65FA550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A822E1C-4C1A-4BEE-B19C-0FFB2D57B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3BECD9B-165E-F3B0-BA87-2FAC8CD6065A}"/>
              </a:ext>
            </a:extLst>
          </p:cNvPr>
          <p:cNvSpPr txBox="1"/>
          <p:nvPr/>
        </p:nvSpPr>
        <p:spPr>
          <a:xfrm>
            <a:off x="11430918" y="6258874"/>
            <a:ext cx="758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>
                <a:latin typeface="Franklin Gothic Medium" panose="020B0603020102020204" pitchFamily="34" charset="0"/>
              </a:rPr>
              <a:t>30</a:t>
            </a:r>
            <a:endParaRPr lang="en-US" dirty="0">
              <a:latin typeface="Franklin Gothic Medium" panose="020B0603020102020204" pitchFamily="34" charset="0"/>
            </a:endParaRPr>
          </a:p>
        </p:txBody>
      </p:sp>
      <p:pic>
        <p:nvPicPr>
          <p:cNvPr id="12" name="Google Shape;160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7433" y="228401"/>
            <a:ext cx="1128583" cy="702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810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825</Words>
  <Application>Microsoft Office PowerPoint</Application>
  <PresentationFormat>Widescreen</PresentationFormat>
  <Paragraphs>376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Wood Type</vt:lpstr>
      <vt:lpstr>Welcome to depth first search (DFS) presentation</vt:lpstr>
      <vt:lpstr>PowerPoint Presentation</vt:lpstr>
      <vt:lpstr>Table of contents</vt:lpstr>
      <vt:lpstr>introduction</vt:lpstr>
      <vt:lpstr>Basic idea of dfs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PowerPoint Presentation</vt:lpstr>
      <vt:lpstr>PowerPoint Presentation</vt:lpstr>
      <vt:lpstr>PowerPoint Presentation</vt:lpstr>
      <vt:lpstr>Pros &amp; cons</vt:lpstr>
      <vt:lpstr>PowerPoint Presentation</vt:lpstr>
      <vt:lpstr>PowerPoint Presentation</vt:lpstr>
      <vt:lpstr>Dfs vs bfs</vt:lpstr>
      <vt:lpstr>Running a Sample Code (python)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depth first search (DFS) presentation</dc:title>
  <dc:creator>Shawon Islam</dc:creator>
  <cp:lastModifiedBy>Shawon Islam</cp:lastModifiedBy>
  <cp:revision>38</cp:revision>
  <dcterms:created xsi:type="dcterms:W3CDTF">2025-12-27T18:43:08Z</dcterms:created>
  <dcterms:modified xsi:type="dcterms:W3CDTF">2026-01-07T10:46:39Z</dcterms:modified>
</cp:coreProperties>
</file>