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Intro Rust"/>
      <p:regular r:id="rId17"/>
    </p:embeddedFont>
    <p:embeddedFont>
      <p:font typeface="League Spartan"/>
      <p:regular r:id="rId18"/>
    </p:embeddedFont>
    <p:embeddedFont>
      <p:font typeface="Times New Roman" panose="02020603050405020304" pitchFamily="18" charset="0"/>
      <p:regular r:id="rId19"/>
    </p:embeddedFont>
    <p:embeddedFont>
      <p:font typeface="Times New Roman Bold" panose="02030802070405020303"/>
      <p:regular r:id="rId20"/>
    </p:embeddedFont>
    <p:embeddedFont>
      <p:font typeface="Times New Roman Ultra-Bold" panose="02030902070405020303" pitchFamily="18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 /><Relationship Id="rId2" Type="http://schemas.openxmlformats.org/officeDocument/2006/relationships/image" Target="../media/image3.jpe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3.svg" /><Relationship Id="rId4" Type="http://schemas.openxmlformats.org/officeDocument/2006/relationships/image" Target="../media/image12.png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0.sv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24.svg" /><Relationship Id="rId4" Type="http://schemas.openxmlformats.org/officeDocument/2006/relationships/image" Target="../media/image2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46668" y="1573860"/>
            <a:ext cx="6756867" cy="6510088"/>
            <a:chOff x="0" y="0"/>
            <a:chExt cx="6590711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90712" cy="6350000"/>
            </a:xfrm>
            <a:custGeom>
              <a:avLst/>
              <a:gdLst/>
              <a:ahLst/>
              <a:cxnLst/>
              <a:rect l="l" t="t" r="r" b="b"/>
              <a:pathLst>
                <a:path w="6590712" h="6350000">
                  <a:moveTo>
                    <a:pt x="0" y="0"/>
                  </a:moveTo>
                  <a:lnTo>
                    <a:pt x="6590712" y="0"/>
                  </a:lnTo>
                  <a:lnTo>
                    <a:pt x="6590712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36799" r="-3679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850770" y="-439543"/>
            <a:ext cx="7101844" cy="1898766"/>
            <a:chOff x="0" y="0"/>
            <a:chExt cx="1363798" cy="3646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952614" y="-421997"/>
            <a:ext cx="7101844" cy="1898766"/>
            <a:chOff x="0" y="0"/>
            <a:chExt cx="1363798" cy="364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952614" y="8810231"/>
            <a:ext cx="5853363" cy="1988111"/>
            <a:chOff x="0" y="0"/>
            <a:chExt cx="1541627" cy="5236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1627" cy="523618"/>
            </a:xfrm>
            <a:custGeom>
              <a:avLst/>
              <a:gdLst/>
              <a:ahLst/>
              <a:cxnLst/>
              <a:rect l="l" t="t" r="r" b="b"/>
              <a:pathLst>
                <a:path w="1541627" h="523618">
                  <a:moveTo>
                    <a:pt x="1338427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1541627" y="523618"/>
                  </a:lnTo>
                  <a:lnTo>
                    <a:pt x="1338427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338427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8810231"/>
            <a:ext cx="13952614" cy="1988111"/>
            <a:chOff x="0" y="0"/>
            <a:chExt cx="3674762" cy="5236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74763" cy="523618"/>
            </a:xfrm>
            <a:custGeom>
              <a:avLst/>
              <a:gdLst/>
              <a:ahLst/>
              <a:cxnLst/>
              <a:rect l="l" t="t" r="r" b="b"/>
              <a:pathLst>
                <a:path w="3674763" h="523618">
                  <a:moveTo>
                    <a:pt x="3471563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3674763" y="523618"/>
                  </a:lnTo>
                  <a:lnTo>
                    <a:pt x="347156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3471562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12774" y="2555423"/>
            <a:ext cx="7886167" cy="997648"/>
          </a:xfrm>
          <a:custGeom>
            <a:avLst/>
            <a:gdLst/>
            <a:ahLst/>
            <a:cxnLst/>
            <a:rect l="l" t="t" r="r" b="b"/>
            <a:pathLst>
              <a:path w="7886167" h="997648">
                <a:moveTo>
                  <a:pt x="0" y="0"/>
                </a:moveTo>
                <a:lnTo>
                  <a:pt x="7886167" y="0"/>
                </a:lnTo>
                <a:lnTo>
                  <a:pt x="7886167" y="997648"/>
                </a:lnTo>
                <a:lnTo>
                  <a:pt x="0" y="9976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99597" y="4200771"/>
            <a:ext cx="10583842" cy="1780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6"/>
              </a:lnSpc>
            </a:pPr>
            <a:r>
              <a:rPr lang="en-US" sz="5119">
                <a:solidFill>
                  <a:srgbClr val="059BDD"/>
                </a:solidFill>
                <a:latin typeface="Intro Rust"/>
                <a:ea typeface="Intro Rust"/>
                <a:cs typeface="Intro Rust"/>
                <a:sym typeface="Intro Rust"/>
              </a:rPr>
              <a:t>THE ORIGINS AND EVOLUTION OF C PROGRAMMING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6904" y="6597918"/>
            <a:ext cx="3528953" cy="66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35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by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6904" y="7167568"/>
            <a:ext cx="4364614" cy="916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5"/>
              </a:lnSpc>
            </a:pPr>
            <a:r>
              <a:rPr lang="en-US" sz="47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Shawon &amp; Siam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5174867" y="8810231"/>
            <a:ext cx="7101844" cy="1898766"/>
            <a:chOff x="0" y="0"/>
            <a:chExt cx="1363798" cy="3646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380279" y="9319242"/>
            <a:ext cx="246513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80503" y="1504652"/>
            <a:ext cx="3509203" cy="1176871"/>
            <a:chOff x="0" y="0"/>
            <a:chExt cx="673888" cy="22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8709" y="2804234"/>
            <a:ext cx="1233531" cy="1174730"/>
            <a:chOff x="0" y="0"/>
            <a:chExt cx="559295" cy="5326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75334" y="2804234"/>
            <a:ext cx="5502590" cy="949782"/>
            <a:chOff x="0" y="0"/>
            <a:chExt cx="4519394" cy="780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68709" y="4325505"/>
            <a:ext cx="1233531" cy="1174730"/>
            <a:chOff x="0" y="0"/>
            <a:chExt cx="559295" cy="5326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75334" y="4325505"/>
            <a:ext cx="5502590" cy="949782"/>
            <a:chOff x="0" y="0"/>
            <a:chExt cx="4519394" cy="7800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8709" y="5843135"/>
            <a:ext cx="1233531" cy="1174730"/>
            <a:chOff x="0" y="0"/>
            <a:chExt cx="559295" cy="5326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75334" y="5843135"/>
            <a:ext cx="5502590" cy="949782"/>
            <a:chOff x="0" y="0"/>
            <a:chExt cx="4519394" cy="7800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8709" y="7364405"/>
            <a:ext cx="1233531" cy="1174730"/>
            <a:chOff x="0" y="0"/>
            <a:chExt cx="559295" cy="53263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75334" y="7364405"/>
            <a:ext cx="5502590" cy="949782"/>
            <a:chOff x="0" y="0"/>
            <a:chExt cx="4519394" cy="7800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16874" y="2804234"/>
            <a:ext cx="1233531" cy="1174730"/>
            <a:chOff x="0" y="0"/>
            <a:chExt cx="559295" cy="53263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23499" y="2804234"/>
            <a:ext cx="5502590" cy="949782"/>
            <a:chOff x="0" y="0"/>
            <a:chExt cx="4519394" cy="7800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316874" y="4325505"/>
            <a:ext cx="1233531" cy="1174730"/>
            <a:chOff x="0" y="0"/>
            <a:chExt cx="559295" cy="53263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723499" y="4325505"/>
            <a:ext cx="5502590" cy="949782"/>
            <a:chOff x="0" y="0"/>
            <a:chExt cx="4519394" cy="7800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316874" y="5843135"/>
            <a:ext cx="1233531" cy="1174730"/>
            <a:chOff x="0" y="0"/>
            <a:chExt cx="559295" cy="53263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23499" y="5843135"/>
            <a:ext cx="5502590" cy="949782"/>
            <a:chOff x="0" y="0"/>
            <a:chExt cx="4519394" cy="78007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AutoShape 50"/>
          <p:cNvSpPr/>
          <p:nvPr/>
        </p:nvSpPr>
        <p:spPr>
          <a:xfrm>
            <a:off x="1568709" y="2356559"/>
            <a:ext cx="281546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>
            <a:off x="4726629" y="2356559"/>
            <a:ext cx="2815461" cy="0"/>
          </a:xfrm>
          <a:prstGeom prst="line">
            <a:avLst/>
          </a:prstGeom>
          <a:ln w="47625" cap="flat">
            <a:solidFill>
              <a:srgbClr val="059BD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568709" y="1159584"/>
            <a:ext cx="7981695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387046" y="2776168"/>
            <a:ext cx="2337048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Team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387046" y="4297439"/>
            <a:ext cx="2664475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C?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87046" y="5815069"/>
            <a:ext cx="3949757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C?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387046" y="7336339"/>
            <a:ext cx="4503693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 of  of C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9135210" y="2776168"/>
            <a:ext cx="4379485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C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9135210" y="4297439"/>
            <a:ext cx="4845700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K&amp;R C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9135210" y="5815069"/>
            <a:ext cx="5090879" cy="739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897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Evolutions at a glance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69115" y="3254201"/>
            <a:ext cx="5535590" cy="6608317"/>
            <a:chOff x="0" y="0"/>
            <a:chExt cx="4993266" cy="59608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93266" cy="5960897"/>
            </a:xfrm>
            <a:custGeom>
              <a:avLst/>
              <a:gdLst/>
              <a:ahLst/>
              <a:cxnLst/>
              <a:rect l="l" t="t" r="r" b="b"/>
              <a:pathLst>
                <a:path w="4993266" h="5960897">
                  <a:moveTo>
                    <a:pt x="0" y="0"/>
                  </a:moveTo>
                  <a:lnTo>
                    <a:pt x="4993266" y="0"/>
                  </a:lnTo>
                  <a:lnTo>
                    <a:pt x="4993266" y="5960897"/>
                  </a:lnTo>
                  <a:lnTo>
                    <a:pt x="0" y="5960897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993266" cy="59989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19568" y="3664810"/>
            <a:ext cx="4834684" cy="4834665"/>
            <a:chOff x="0" y="0"/>
            <a:chExt cx="6350025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50026" cy="6350000"/>
            </a:xfrm>
            <a:custGeom>
              <a:avLst/>
              <a:gdLst/>
              <a:ahLst/>
              <a:cxnLst/>
              <a:rect l="l" t="t" r="r" b="b"/>
              <a:pathLst>
                <a:path w="6350026" h="6350000">
                  <a:moveTo>
                    <a:pt x="0" y="0"/>
                  </a:moveTo>
                  <a:lnTo>
                    <a:pt x="6350026" y="0"/>
                  </a:lnTo>
                  <a:lnTo>
                    <a:pt x="6350026" y="6350000"/>
                  </a:lnTo>
                  <a:lnTo>
                    <a:pt x="0" y="6350000"/>
                  </a:lnTo>
                  <a:close/>
                </a:path>
              </a:pathLst>
            </a:custGeom>
            <a:blipFill>
              <a:blip r:embed="rId2"/>
              <a:stretch>
                <a:fillRect l="-2915" t="-18901" r="-24225" b="-2095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861735" y="1197684"/>
            <a:ext cx="405510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Team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19568" y="8494945"/>
            <a:ext cx="4562765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Shawon Gazi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388212" y="3309485"/>
            <a:ext cx="5171110" cy="6553033"/>
            <a:chOff x="0" y="0"/>
            <a:chExt cx="4664494" cy="59110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664494" cy="5911030"/>
            </a:xfrm>
            <a:custGeom>
              <a:avLst/>
              <a:gdLst/>
              <a:ahLst/>
              <a:cxnLst/>
              <a:rect l="l" t="t" r="r" b="b"/>
              <a:pathLst>
                <a:path w="4664494" h="5911030">
                  <a:moveTo>
                    <a:pt x="0" y="0"/>
                  </a:moveTo>
                  <a:lnTo>
                    <a:pt x="4664494" y="0"/>
                  </a:lnTo>
                  <a:lnTo>
                    <a:pt x="4664494" y="5911030"/>
                  </a:lnTo>
                  <a:lnTo>
                    <a:pt x="0" y="591103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664494" cy="59491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72381" y="3664810"/>
            <a:ext cx="4802771" cy="5030159"/>
            <a:chOff x="0" y="0"/>
            <a:chExt cx="8700711" cy="91126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700711" cy="9112648"/>
            </a:xfrm>
            <a:custGeom>
              <a:avLst/>
              <a:gdLst/>
              <a:ahLst/>
              <a:cxnLst/>
              <a:rect l="l" t="t" r="r" b="b"/>
              <a:pathLst>
                <a:path w="8700711" h="9112648">
                  <a:moveTo>
                    <a:pt x="0" y="0"/>
                  </a:moveTo>
                  <a:lnTo>
                    <a:pt x="8700711" y="0"/>
                  </a:lnTo>
                  <a:lnTo>
                    <a:pt x="8700711" y="9112648"/>
                  </a:lnTo>
                  <a:lnTo>
                    <a:pt x="0" y="9112648"/>
                  </a:lnTo>
                  <a:close/>
                </a:path>
              </a:pathLst>
            </a:custGeom>
            <a:blipFill>
              <a:blip r:embed="rId3"/>
              <a:stretch>
                <a:fillRect l="-37010" t="-16133" r="-27347" b="-40794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681828" y="8649207"/>
            <a:ext cx="4693324" cy="804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8"/>
              </a:lnSpc>
            </a:pPr>
            <a:r>
              <a:rPr lang="en-US" sz="4234" b="1">
                <a:solidFill>
                  <a:srgbClr val="F4F7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Md. Siam Howlader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728861" y="9453794"/>
            <a:ext cx="5060879" cy="1929391"/>
            <a:chOff x="0" y="0"/>
            <a:chExt cx="1438640" cy="54846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800757" y="9269463"/>
            <a:ext cx="2072306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2"/>
              </a:lnSpc>
              <a:spcBef>
                <a:spcPct val="0"/>
              </a:spcBef>
            </a:pPr>
            <a:r>
              <a:rPr lang="en-US" sz="3101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241400031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973243" y="9269463"/>
            <a:ext cx="2110496" cy="536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2"/>
              </a:lnSpc>
              <a:spcBef>
                <a:spcPct val="0"/>
              </a:spcBef>
            </a:pPr>
            <a:r>
              <a:rPr lang="en-US" sz="3101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241400032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619261" y="3345605"/>
            <a:ext cx="5009467" cy="5329661"/>
          </a:xfrm>
          <a:custGeom>
            <a:avLst/>
            <a:gdLst/>
            <a:ahLst/>
            <a:cxnLst/>
            <a:rect l="l" t="t" r="r" b="b"/>
            <a:pathLst>
              <a:path w="5009467" h="5329661">
                <a:moveTo>
                  <a:pt x="0" y="0"/>
                </a:moveTo>
                <a:lnTo>
                  <a:pt x="5009467" y="0"/>
                </a:lnTo>
                <a:lnTo>
                  <a:pt x="5009467" y="5329661"/>
                </a:lnTo>
                <a:lnTo>
                  <a:pt x="0" y="5329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676" r="-43749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97771" y="1197684"/>
            <a:ext cx="4775458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C.?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7949" y="3775180"/>
            <a:ext cx="11590561" cy="381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2"/>
              </a:lnSpc>
            </a:pPr>
            <a:r>
              <a:rPr lang="en-US" sz="530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 is a high-level and general purpose programming language that is ideal for developing firmware or portable applications.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8869" y="7910204"/>
            <a:ext cx="11590561" cy="1017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2"/>
              </a:lnSpc>
            </a:pPr>
            <a:r>
              <a:rPr lang="en-US" sz="5308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 is what is called a compiled language.</a:t>
            </a: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80503" y="1504652"/>
            <a:ext cx="3509203" cy="1176871"/>
            <a:chOff x="0" y="0"/>
            <a:chExt cx="673888" cy="22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08357" y="3783249"/>
            <a:ext cx="17494732" cy="4304826"/>
            <a:chOff x="0" y="0"/>
            <a:chExt cx="4607666" cy="113378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07666" cy="1133781"/>
            </a:xfrm>
            <a:custGeom>
              <a:avLst/>
              <a:gdLst/>
              <a:ahLst/>
              <a:cxnLst/>
              <a:rect l="l" t="t" r="r" b="b"/>
              <a:pathLst>
                <a:path w="4607666" h="1133781">
                  <a:moveTo>
                    <a:pt x="0" y="0"/>
                  </a:moveTo>
                  <a:lnTo>
                    <a:pt x="4607666" y="0"/>
                  </a:lnTo>
                  <a:lnTo>
                    <a:pt x="4607666" y="1133781"/>
                  </a:lnTo>
                  <a:lnTo>
                    <a:pt x="0" y="1133781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607666" cy="1171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79934" y="2248183"/>
            <a:ext cx="6169098" cy="6169098"/>
            <a:chOff x="0" y="0"/>
            <a:chExt cx="3282950" cy="32829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82950" cy="3282950"/>
            </a:xfrm>
            <a:custGeom>
              <a:avLst/>
              <a:gdLst/>
              <a:ahLst/>
              <a:cxnLst/>
              <a:rect l="l" t="t" r="r" b="b"/>
              <a:pathLst>
                <a:path w="3282950" h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3282950"/>
                  </a:lnTo>
                  <a:lnTo>
                    <a:pt x="0" y="328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8688" r="-28688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8644476" y="2548174"/>
            <a:ext cx="8236581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C?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621214" y="4049712"/>
            <a:ext cx="9007514" cy="365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25"/>
              </a:lnSpc>
            </a:pPr>
            <a:r>
              <a:rPr lang="en-US" sz="4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Foundation for many other languages (C++, Java, Python, etc.)</a:t>
            </a:r>
          </a:p>
          <a:p>
            <a:pPr algn="just">
              <a:lnSpc>
                <a:spcPts val="5625"/>
              </a:lnSpc>
            </a:pPr>
            <a:endParaRPr lang="en-US" sz="45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5625"/>
              </a:lnSpc>
            </a:pPr>
            <a:r>
              <a:rPr lang="en-US" sz="45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Used in system programming, embedded systems, and more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56974" y="1913198"/>
            <a:ext cx="6071196" cy="9106794"/>
            <a:chOff x="0" y="0"/>
            <a:chExt cx="6350000" cy="952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5389" r="-728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97771" y="1197684"/>
            <a:ext cx="767894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 of C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050091" y="9406141"/>
            <a:ext cx="2553858" cy="76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03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Peter Naur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15527" y="3203305"/>
            <a:ext cx="10843431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DE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8241" y="4143748"/>
            <a:ext cx="1084343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root of all modern languages is ALGOL Introduced in the early 1960s.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8241" y="6053969"/>
            <a:ext cx="1084343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ALGOL was the first computer language to use a block structure.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08241" y="7891847"/>
            <a:ext cx="10843431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ALGOL gave the concept of structured programming to the computer science.</a:t>
            </a:r>
          </a:p>
        </p:txBody>
      </p: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872131" y="3374755"/>
            <a:ext cx="2782825" cy="4174238"/>
            <a:chOff x="0" y="0"/>
            <a:chExt cx="6350000" cy="9525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25000" r="-2500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97771" y="1197684"/>
            <a:ext cx="767894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 of C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15527" y="3203305"/>
            <a:ext cx="10843431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DE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BCPL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4197229"/>
            <a:ext cx="10843431" cy="538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1967, Martin Richards developed a language called (Basic Combined Programming Language).</a:t>
            </a:r>
          </a:p>
          <a:p>
            <a:pPr algn="l">
              <a:lnSpc>
                <a:spcPts val="5320"/>
              </a:lnSpc>
            </a:pPr>
            <a:endParaRPr lang="en-US" sz="3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1970, Ken Thompson created a language using many features of BCPL and called it simply B.</a:t>
            </a:r>
          </a:p>
          <a:p>
            <a:pPr algn="l">
              <a:lnSpc>
                <a:spcPts val="5320"/>
              </a:lnSpc>
            </a:pPr>
            <a:endParaRPr lang="en-US" sz="38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BCPL and B were "typeless" system programming languages.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1203992" y="7671023"/>
            <a:ext cx="3890136" cy="670341"/>
            <a:chOff x="0" y="0"/>
            <a:chExt cx="1438640" cy="2479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38640" cy="247904"/>
            </a:xfrm>
            <a:custGeom>
              <a:avLst/>
              <a:gdLst/>
              <a:ahLst/>
              <a:cxnLst/>
              <a:rect l="l" t="t" r="r" b="b"/>
              <a:pathLst>
                <a:path w="1438640" h="247904">
                  <a:moveTo>
                    <a:pt x="1235440" y="0"/>
                  </a:moveTo>
                  <a:lnTo>
                    <a:pt x="0" y="0"/>
                  </a:lnTo>
                  <a:lnTo>
                    <a:pt x="203200" y="247904"/>
                  </a:lnTo>
                  <a:lnTo>
                    <a:pt x="1438640" y="247904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101600" y="-76200"/>
              <a:ext cx="1235440" cy="324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872131" y="7705838"/>
            <a:ext cx="2553858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Martin Richards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5094128" y="4169096"/>
            <a:ext cx="2782825" cy="4174238"/>
            <a:chOff x="0" y="0"/>
            <a:chExt cx="6350000" cy="9525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350000" cy="9525000"/>
            </a:xfrm>
            <a:custGeom>
              <a:avLst/>
              <a:gdLst/>
              <a:ahLst/>
              <a:cxnLst/>
              <a:rect l="l" t="t" r="r" b="b"/>
              <a:pathLst>
                <a:path w="6350000" h="952500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217170"/>
                    <a:pt x="6350000" y="482600"/>
                  </a:cubicBezTo>
                  <a:lnTo>
                    <a:pt x="6350000" y="9042400"/>
                  </a:lnTo>
                  <a:cubicBezTo>
                    <a:pt x="6350000" y="9309100"/>
                    <a:pt x="6134100" y="9525000"/>
                    <a:pt x="5867400" y="9525000"/>
                  </a:cubicBezTo>
                  <a:lnTo>
                    <a:pt x="482600" y="9525000"/>
                  </a:lnTo>
                  <a:cubicBezTo>
                    <a:pt x="217170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3"/>
              <a:stretch>
                <a:fillRect l="-1011" r="-1011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14397864" y="8467159"/>
            <a:ext cx="3890136" cy="670341"/>
            <a:chOff x="0" y="0"/>
            <a:chExt cx="1438640" cy="24790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8640" cy="247904"/>
            </a:xfrm>
            <a:custGeom>
              <a:avLst/>
              <a:gdLst/>
              <a:ahLst/>
              <a:cxnLst/>
              <a:rect l="l" t="t" r="r" b="b"/>
              <a:pathLst>
                <a:path w="1438640" h="247904">
                  <a:moveTo>
                    <a:pt x="1235440" y="0"/>
                  </a:moveTo>
                  <a:lnTo>
                    <a:pt x="0" y="0"/>
                  </a:lnTo>
                  <a:lnTo>
                    <a:pt x="203200" y="247904"/>
                  </a:lnTo>
                  <a:lnTo>
                    <a:pt x="1438640" y="247904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101600" y="-76200"/>
              <a:ext cx="1235440" cy="324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5121727" y="8501974"/>
            <a:ext cx="2553858" cy="49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Ken Thompson</a:t>
            </a: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493368"/>
            <a:chOff x="0" y="0"/>
            <a:chExt cx="2689103" cy="3312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31292"/>
            </a:xfrm>
            <a:custGeom>
              <a:avLst/>
              <a:gdLst/>
              <a:ahLst/>
              <a:cxnLst/>
              <a:rect l="l" t="t" r="r" b="b"/>
              <a:pathLst>
                <a:path w="2689103" h="331292">
                  <a:moveTo>
                    <a:pt x="2485903" y="0"/>
                  </a:moveTo>
                  <a:lnTo>
                    <a:pt x="0" y="0"/>
                  </a:lnTo>
                  <a:lnTo>
                    <a:pt x="203200" y="331292"/>
                  </a:lnTo>
                  <a:lnTo>
                    <a:pt x="2689103" y="331292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3693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12159430" y="4093242"/>
            <a:ext cx="5469298" cy="4108531"/>
          </a:xfrm>
          <a:custGeom>
            <a:avLst/>
            <a:gdLst/>
            <a:ahLst/>
            <a:cxnLst/>
            <a:rect l="l" t="t" r="r" b="b"/>
            <a:pathLst>
              <a:path w="5469298" h="4108531">
                <a:moveTo>
                  <a:pt x="0" y="0"/>
                </a:moveTo>
                <a:lnTo>
                  <a:pt x="5469298" y="0"/>
                </a:lnTo>
                <a:lnTo>
                  <a:pt x="5469298" y="4108531"/>
                </a:lnTo>
                <a:lnTo>
                  <a:pt x="0" y="4108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751" t="-5958" r="-10119" b="-2198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897771" y="534817"/>
            <a:ext cx="767894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 of 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7658" y="2876915"/>
            <a:ext cx="10843431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DE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BCPL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4350" y="3809328"/>
            <a:ext cx="11357781" cy="512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6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1972 C was evolved from ALGOL, BCPL and B by Dennis Ritchie at the Bell Laboratories.</a:t>
            </a:r>
          </a:p>
          <a:p>
            <a:pPr algn="just">
              <a:lnSpc>
                <a:spcPts val="4476"/>
              </a:lnSpc>
            </a:pPr>
            <a:endParaRPr lang="en-US" sz="36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76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Cuses many concepts from theses languages and added the concept of data types and other powerful features.</a:t>
            </a:r>
          </a:p>
          <a:p>
            <a:pPr algn="just">
              <a:lnSpc>
                <a:spcPts val="4476"/>
              </a:lnSpc>
            </a:pPr>
            <a:endParaRPr lang="en-US" sz="36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76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strongly associated with UNIX.</a:t>
            </a:r>
          </a:p>
          <a:p>
            <a:pPr algn="just">
              <a:lnSpc>
                <a:spcPts val="4476"/>
              </a:lnSpc>
            </a:pPr>
            <a:endParaRPr lang="en-US" sz="36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476"/>
              </a:lnSpc>
            </a:pPr>
            <a:endParaRPr lang="en-US" sz="36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4350" y="8125573"/>
            <a:ext cx="11357781" cy="1195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6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UNIX is one of the most popular network operating systems in use today.</a:t>
            </a: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988001"/>
            <a:ext cx="19000682" cy="7244521"/>
            <a:chOff x="0" y="0"/>
            <a:chExt cx="5004295" cy="1908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4295" cy="1908022"/>
            </a:xfrm>
            <a:custGeom>
              <a:avLst/>
              <a:gdLst/>
              <a:ahLst/>
              <a:cxnLst/>
              <a:rect l="l" t="t" r="r" b="b"/>
              <a:pathLst>
                <a:path w="5004295" h="1908022">
                  <a:moveTo>
                    <a:pt x="0" y="0"/>
                  </a:moveTo>
                  <a:lnTo>
                    <a:pt x="5004295" y="0"/>
                  </a:lnTo>
                  <a:lnTo>
                    <a:pt x="5004295" y="1908022"/>
                  </a:lnTo>
                  <a:lnTo>
                    <a:pt x="0" y="1908022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04295" cy="194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97771" y="1197684"/>
            <a:ext cx="8703481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Traditional C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6585" y="3507086"/>
            <a:ext cx="17587512" cy="5531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4"/>
              </a:lnSpc>
            </a:pPr>
            <a:r>
              <a:rPr lang="en-US" sz="3806" b="1" spc="178">
                <a:solidFill>
                  <a:srgbClr val="FFFFFF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During 1970s C had evolved into what is now known as "traditional C".</a:t>
            </a:r>
          </a:p>
          <a:p>
            <a:pPr algn="l">
              <a:lnSpc>
                <a:spcPts val="4834"/>
              </a:lnSpc>
            </a:pPr>
            <a:endParaRPr lang="en-US" sz="3806" b="1" spc="178">
              <a:solidFill>
                <a:srgbClr val="FFFFFF"/>
              </a:solidFill>
              <a:latin typeface="Times New Roman Ultra-Bold"/>
              <a:ea typeface="Times New Roman Ultra-Bold"/>
              <a:cs typeface="Times New Roman Ultra-Bold"/>
              <a:sym typeface="Times New Roman Ultra-Bold"/>
            </a:endParaRPr>
          </a:p>
          <a:p>
            <a:pPr algn="l">
              <a:lnSpc>
                <a:spcPts val="4834"/>
              </a:lnSpc>
            </a:pPr>
            <a:r>
              <a:rPr lang="en-US" sz="3806" b="1" spc="178">
                <a:solidFill>
                  <a:srgbClr val="FFFFFF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The language became more popular after publication of the book 'The C programming language' by Brian Kerningham and Dennis Ritchie in 1978.</a:t>
            </a:r>
          </a:p>
          <a:p>
            <a:pPr algn="l">
              <a:lnSpc>
                <a:spcPts val="4834"/>
              </a:lnSpc>
            </a:pPr>
            <a:endParaRPr lang="en-US" sz="3806" b="1" spc="178">
              <a:solidFill>
                <a:srgbClr val="FFFFFF"/>
              </a:solidFill>
              <a:latin typeface="Times New Roman Ultra-Bold"/>
              <a:ea typeface="Times New Roman Ultra-Bold"/>
              <a:cs typeface="Times New Roman Ultra-Bold"/>
              <a:sym typeface="Times New Roman Ultra-Bold"/>
            </a:endParaRPr>
          </a:p>
          <a:p>
            <a:pPr algn="l">
              <a:lnSpc>
                <a:spcPts val="4834"/>
              </a:lnSpc>
            </a:pPr>
            <a:r>
              <a:rPr lang="en-US" sz="3806" b="1" spc="178">
                <a:solidFill>
                  <a:srgbClr val="FFFFFF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For many years, C was used mainly in academic environments.</a:t>
            </a:r>
          </a:p>
          <a:p>
            <a:pPr algn="l">
              <a:lnSpc>
                <a:spcPts val="4834"/>
              </a:lnSpc>
            </a:pPr>
            <a:endParaRPr lang="en-US" sz="3806" b="1" spc="178">
              <a:solidFill>
                <a:srgbClr val="FFFFFF"/>
              </a:solidFill>
              <a:latin typeface="Times New Roman Ultra-Bold"/>
              <a:ea typeface="Times New Roman Ultra-Bold"/>
              <a:cs typeface="Times New Roman Ultra-Bold"/>
              <a:sym typeface="Times New Roman Ultra-Bold"/>
            </a:endParaRPr>
          </a:p>
          <a:p>
            <a:pPr algn="l">
              <a:lnSpc>
                <a:spcPts val="4834"/>
              </a:lnSpc>
            </a:pPr>
            <a:r>
              <a:rPr lang="en-US" sz="3806" b="1" spc="178">
                <a:solidFill>
                  <a:srgbClr val="FFFFFF"/>
                </a:solidFill>
                <a:latin typeface="Times New Roman Ultra-Bold"/>
                <a:ea typeface="Times New Roman Ultra-Bold"/>
                <a:cs typeface="Times New Roman Ultra-Bold"/>
                <a:sym typeface="Times New Roman Ultra-Bold"/>
              </a:rPr>
              <a:t>Today, C is running under a variety of operating system and hardware platforms.</a:t>
            </a:r>
          </a:p>
        </p:txBody>
      </p:sp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75174" y="2776867"/>
            <a:ext cx="4694682" cy="4402439"/>
            <a:chOff x="0" y="0"/>
            <a:chExt cx="1236459" cy="11594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36460" cy="1159490"/>
            </a:xfrm>
            <a:custGeom>
              <a:avLst/>
              <a:gdLst/>
              <a:ahLst/>
              <a:cxnLst/>
              <a:rect l="l" t="t" r="r" b="b"/>
              <a:pathLst>
                <a:path w="1236460" h="1159490">
                  <a:moveTo>
                    <a:pt x="0" y="0"/>
                  </a:moveTo>
                  <a:lnTo>
                    <a:pt x="1236460" y="0"/>
                  </a:lnTo>
                  <a:lnTo>
                    <a:pt x="1236460" y="1159490"/>
                  </a:lnTo>
                  <a:lnTo>
                    <a:pt x="0" y="115949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36459" cy="1197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2854800"/>
            <a:ext cx="4154130" cy="4324506"/>
            <a:chOff x="0" y="0"/>
            <a:chExt cx="1094092" cy="11389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4092" cy="1138965"/>
            </a:xfrm>
            <a:custGeom>
              <a:avLst/>
              <a:gdLst/>
              <a:ahLst/>
              <a:cxnLst/>
              <a:rect l="l" t="t" r="r" b="b"/>
              <a:pathLst>
                <a:path w="1094092" h="1138965">
                  <a:moveTo>
                    <a:pt x="0" y="0"/>
                  </a:moveTo>
                  <a:lnTo>
                    <a:pt x="1094092" y="0"/>
                  </a:lnTo>
                  <a:lnTo>
                    <a:pt x="1094092" y="1138965"/>
                  </a:lnTo>
                  <a:lnTo>
                    <a:pt x="0" y="113896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94092" cy="1177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3328270" y="2855668"/>
            <a:ext cx="4188490" cy="4244837"/>
          </a:xfrm>
          <a:custGeom>
            <a:avLst/>
            <a:gdLst/>
            <a:ahLst/>
            <a:cxnLst/>
            <a:rect l="l" t="t" r="r" b="b"/>
            <a:pathLst>
              <a:path w="4188490" h="4244837">
                <a:moveTo>
                  <a:pt x="0" y="0"/>
                </a:moveTo>
                <a:lnTo>
                  <a:pt x="4188490" y="0"/>
                </a:lnTo>
                <a:lnTo>
                  <a:pt x="4188490" y="4244837"/>
                </a:lnTo>
                <a:lnTo>
                  <a:pt x="0" y="42448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04020" y="2945310"/>
            <a:ext cx="3834090" cy="4155195"/>
          </a:xfrm>
          <a:custGeom>
            <a:avLst/>
            <a:gdLst/>
            <a:ahLst/>
            <a:cxnLst/>
            <a:rect l="l" t="t" r="r" b="b"/>
            <a:pathLst>
              <a:path w="3834090" h="4155195">
                <a:moveTo>
                  <a:pt x="0" y="0"/>
                </a:moveTo>
                <a:lnTo>
                  <a:pt x="3834090" y="0"/>
                </a:lnTo>
                <a:lnTo>
                  <a:pt x="3834090" y="4155195"/>
                </a:lnTo>
                <a:lnTo>
                  <a:pt x="0" y="4155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296" b="-25368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69321" y="7998456"/>
            <a:ext cx="14074535" cy="486211"/>
          </a:xfrm>
          <a:custGeom>
            <a:avLst/>
            <a:gdLst/>
            <a:ahLst/>
            <a:cxnLst/>
            <a:rect l="l" t="t" r="r" b="b"/>
            <a:pathLst>
              <a:path w="14074535" h="486211">
                <a:moveTo>
                  <a:pt x="0" y="0"/>
                </a:moveTo>
                <a:lnTo>
                  <a:pt x="14074535" y="0"/>
                </a:lnTo>
                <a:lnTo>
                  <a:pt x="14074535" y="486211"/>
                </a:lnTo>
                <a:lnTo>
                  <a:pt x="0" y="486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897771" y="1197684"/>
            <a:ext cx="7528329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K&amp;R C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97771" y="8437042"/>
            <a:ext cx="13017634" cy="15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60"/>
              </a:lnSpc>
            </a:pPr>
            <a:r>
              <a:rPr lang="en-US" sz="411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Book was so popular that the language came to be known as "K&amp;R C" among the programming community.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441143" y="7274556"/>
            <a:ext cx="444158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Brian Kerningham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10884" y="7274556"/>
            <a:ext cx="4441586" cy="75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Dennis Ritchie</a:t>
            </a:r>
          </a:p>
        </p:txBody>
      </p:sp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453373" y="3701145"/>
            <a:ext cx="4301150" cy="5254623"/>
            <a:chOff x="0" y="0"/>
            <a:chExt cx="6350000" cy="775765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7757659"/>
            </a:xfrm>
            <a:custGeom>
              <a:avLst/>
              <a:gdLst/>
              <a:ahLst/>
              <a:cxnLst/>
              <a:rect l="l" t="t" r="r" b="b"/>
              <a:pathLst>
                <a:path w="6350000" h="7757659">
                  <a:moveTo>
                    <a:pt x="0" y="7364604"/>
                  </a:moveTo>
                  <a:lnTo>
                    <a:pt x="0" y="393055"/>
                  </a:lnTo>
                  <a:cubicBezTo>
                    <a:pt x="0" y="175840"/>
                    <a:pt x="215900" y="0"/>
                    <a:pt x="482600" y="0"/>
                  </a:cubicBezTo>
                  <a:lnTo>
                    <a:pt x="5867400" y="0"/>
                  </a:lnTo>
                  <a:cubicBezTo>
                    <a:pt x="6134100" y="0"/>
                    <a:pt x="6350000" y="176875"/>
                    <a:pt x="6350000" y="393055"/>
                  </a:cubicBezTo>
                  <a:lnTo>
                    <a:pt x="6350000" y="7364604"/>
                  </a:lnTo>
                  <a:cubicBezTo>
                    <a:pt x="6350000" y="7581819"/>
                    <a:pt x="6134100" y="7757659"/>
                    <a:pt x="5867400" y="7757659"/>
                  </a:cubicBezTo>
                  <a:lnTo>
                    <a:pt x="482600" y="7757659"/>
                  </a:lnTo>
                  <a:cubicBezTo>
                    <a:pt x="217170" y="7757659"/>
                    <a:pt x="0" y="7581819"/>
                    <a:pt x="0" y="7364604"/>
                  </a:cubicBezTo>
                  <a:close/>
                </a:path>
              </a:pathLst>
            </a:custGeom>
            <a:blipFill>
              <a:blip r:embed="rId2"/>
              <a:stretch>
                <a:fillRect l="-11083" r="-1108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897771" y="1197684"/>
            <a:ext cx="767894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 of C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5527" y="3203305"/>
            <a:ext cx="10843431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DE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ANSI 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4769" y="4221178"/>
            <a:ext cx="12325322" cy="5314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In 1983 American National Standards Institute (ANSI) appointed a technical committee to define a standard for C.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In December 1989 the committee approved a version of C which is known as ANSI C.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It was then approved by the International Standards Organization (ISO) in 1990.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This version of C is also referred to as C89.</a:t>
            </a:r>
          </a:p>
        </p:txBody>
      </p:sp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279715" y="3517443"/>
            <a:ext cx="4648467" cy="5740857"/>
          </a:xfrm>
          <a:custGeom>
            <a:avLst/>
            <a:gdLst/>
            <a:ahLst/>
            <a:cxnLst/>
            <a:rect l="l" t="t" r="r" b="b"/>
            <a:pathLst>
              <a:path w="4648467" h="5740857">
                <a:moveTo>
                  <a:pt x="0" y="0"/>
                </a:moveTo>
                <a:lnTo>
                  <a:pt x="4648467" y="0"/>
                </a:lnTo>
                <a:lnTo>
                  <a:pt x="4648467" y="5740857"/>
                </a:lnTo>
                <a:lnTo>
                  <a:pt x="0" y="57408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897771" y="1197684"/>
            <a:ext cx="767894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of 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5527" y="3203305"/>
            <a:ext cx="10843431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>
                <a:solidFill>
                  <a:srgbClr val="FFDE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ANSI/ISO C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4769" y="4221178"/>
            <a:ext cx="12325322" cy="4790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During 1990s, C++, a language entirely based on C, underwent a number of improvements and became an ANSI/ISO approved language in November 1977.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C++ added several new features to C to make it only a true object- oriented language but also a more versatile language.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During the same period, Sun Microsystems of USA created a new language java modelled on C and C++.</a:t>
            </a:r>
          </a:p>
        </p:txBody>
      </p:sp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226642" y="2988001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13565859" y="4283228"/>
            <a:ext cx="4537601" cy="3695725"/>
          </a:xfrm>
          <a:custGeom>
            <a:avLst/>
            <a:gdLst/>
            <a:ahLst/>
            <a:cxnLst/>
            <a:rect l="l" t="t" r="r" b="b"/>
            <a:pathLst>
              <a:path w="4537601" h="3695725">
                <a:moveTo>
                  <a:pt x="0" y="0"/>
                </a:moveTo>
                <a:lnTo>
                  <a:pt x="4537601" y="0"/>
                </a:lnTo>
                <a:lnTo>
                  <a:pt x="4537601" y="3695725"/>
                </a:lnTo>
                <a:lnTo>
                  <a:pt x="0" y="3695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72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897771" y="1197684"/>
            <a:ext cx="7678943" cy="927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 of  of 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15527" y="3203305"/>
            <a:ext cx="10843431" cy="82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l">
              <a:lnSpc>
                <a:spcPts val="6019"/>
              </a:lnSpc>
              <a:buFont typeface="Arial"/>
              <a:buChar char="•"/>
            </a:pPr>
            <a:r>
              <a:rPr lang="en-US" sz="4299" b="1">
                <a:solidFill>
                  <a:srgbClr val="FFDE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C99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4393" y="4226078"/>
            <a:ext cx="12325322" cy="426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C99 (previously known as C9X) is an informal name for ISO/IEC 9899: 1999.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extends the previous version (C90) with new features for the language and the standard library.</a:t>
            </a:r>
          </a:p>
          <a:p>
            <a:pPr algn="just">
              <a:lnSpc>
                <a:spcPts val="4176"/>
              </a:lnSpc>
            </a:pPr>
            <a:endParaRPr lang="en-US" sz="360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just">
              <a:lnSpc>
                <a:spcPts val="4176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C99 is, for the most part, backward compatible with C89, but it is stricter in some ways.</a:t>
            </a:r>
          </a:p>
        </p:txBody>
      </p:sp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02715" y="1865388"/>
            <a:ext cx="3160666" cy="1661968"/>
            <a:chOff x="0" y="0"/>
            <a:chExt cx="812800" cy="427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27393"/>
            </a:xfrm>
            <a:custGeom>
              <a:avLst/>
              <a:gdLst/>
              <a:ahLst/>
              <a:cxnLst/>
              <a:rect l="l" t="t" r="r" b="b"/>
              <a:pathLst>
                <a:path w="812800" h="427393">
                  <a:moveTo>
                    <a:pt x="609600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812800" y="427393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46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16875" y="4052593"/>
            <a:ext cx="1990049" cy="1661968"/>
            <a:chOff x="0" y="0"/>
            <a:chExt cx="511763" cy="427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763" cy="427393"/>
            </a:xfrm>
            <a:custGeom>
              <a:avLst/>
              <a:gdLst/>
              <a:ahLst/>
              <a:cxnLst/>
              <a:rect l="l" t="t" r="r" b="b"/>
              <a:pathLst>
                <a:path w="511763" h="427393">
                  <a:moveTo>
                    <a:pt x="308563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511763" y="427393"/>
                  </a:lnTo>
                  <a:lnTo>
                    <a:pt x="308563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08563" cy="46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41945" y="1837323"/>
            <a:ext cx="14802235" cy="8449677"/>
          </a:xfrm>
          <a:custGeom>
            <a:avLst/>
            <a:gdLst/>
            <a:ahLst/>
            <a:cxnLst/>
            <a:rect l="l" t="t" r="r" b="b"/>
            <a:pathLst>
              <a:path w="14802235" h="8449677">
                <a:moveTo>
                  <a:pt x="0" y="0"/>
                </a:moveTo>
                <a:lnTo>
                  <a:pt x="14802235" y="0"/>
                </a:lnTo>
                <a:lnTo>
                  <a:pt x="14802235" y="8449677"/>
                </a:lnTo>
                <a:lnTo>
                  <a:pt x="0" y="84496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77" t="-33979" r="-4533" b="-7915"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3952614" y="-457897"/>
            <a:ext cx="7101844" cy="1898766"/>
            <a:chOff x="0" y="0"/>
            <a:chExt cx="1363798" cy="3646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087417" y="8755915"/>
            <a:ext cx="9849845" cy="1988111"/>
            <a:chOff x="0" y="0"/>
            <a:chExt cx="2594198" cy="52361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94198" cy="523618"/>
            </a:xfrm>
            <a:custGeom>
              <a:avLst/>
              <a:gdLst/>
              <a:ahLst/>
              <a:cxnLst/>
              <a:rect l="l" t="t" r="r" b="b"/>
              <a:pathLst>
                <a:path w="2594198" h="523618">
                  <a:moveTo>
                    <a:pt x="2390998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2594198" y="523618"/>
                  </a:lnTo>
                  <a:lnTo>
                    <a:pt x="2390998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2390998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486400" y="110833"/>
            <a:ext cx="7315200" cy="1330036"/>
          </a:xfrm>
          <a:custGeom>
            <a:avLst/>
            <a:gdLst/>
            <a:ahLst/>
            <a:cxnLst/>
            <a:rect l="l" t="t" r="r" b="b"/>
            <a:pathLst>
              <a:path w="7315200" h="1330036">
                <a:moveTo>
                  <a:pt x="0" y="0"/>
                </a:moveTo>
                <a:lnTo>
                  <a:pt x="7315200" y="0"/>
                </a:lnTo>
                <a:lnTo>
                  <a:pt x="7315200" y="1330036"/>
                </a:lnTo>
                <a:lnTo>
                  <a:pt x="0" y="1330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5804011" y="244827"/>
            <a:ext cx="6679978" cy="957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1"/>
              </a:lnSpc>
            </a:pPr>
            <a:r>
              <a:rPr lang="en-US" sz="5593" spc="-5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Evolutions at a glance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327048" y="9124950"/>
            <a:ext cx="895579" cy="111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9"/>
              </a:lnSpc>
              <a:spcBef>
                <a:spcPct val="0"/>
              </a:spcBef>
            </a:pPr>
            <a:r>
              <a:rPr lang="en-US" sz="653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14</a:t>
            </a:r>
          </a:p>
        </p:txBody>
      </p:sp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02715" y="1865388"/>
            <a:ext cx="3160666" cy="1661968"/>
            <a:chOff x="0" y="0"/>
            <a:chExt cx="812800" cy="427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27393"/>
            </a:xfrm>
            <a:custGeom>
              <a:avLst/>
              <a:gdLst/>
              <a:ahLst/>
              <a:cxnLst/>
              <a:rect l="l" t="t" r="r" b="b"/>
              <a:pathLst>
                <a:path w="812800" h="427393">
                  <a:moveTo>
                    <a:pt x="609600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812800" y="427393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46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16875" y="4052593"/>
            <a:ext cx="1990049" cy="1661968"/>
            <a:chOff x="0" y="0"/>
            <a:chExt cx="511763" cy="427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763" cy="427393"/>
            </a:xfrm>
            <a:custGeom>
              <a:avLst/>
              <a:gdLst/>
              <a:ahLst/>
              <a:cxnLst/>
              <a:rect l="l" t="t" r="r" b="b"/>
              <a:pathLst>
                <a:path w="511763" h="427393">
                  <a:moveTo>
                    <a:pt x="308563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511763" y="427393"/>
                  </a:lnTo>
                  <a:lnTo>
                    <a:pt x="308563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08563" cy="46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52614" y="-457897"/>
            <a:ext cx="7101844" cy="1898766"/>
            <a:chOff x="0" y="0"/>
            <a:chExt cx="1363798" cy="364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56132" y="8774332"/>
            <a:ext cx="9849845" cy="1988111"/>
            <a:chOff x="0" y="0"/>
            <a:chExt cx="2594198" cy="5236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94198" cy="523618"/>
            </a:xfrm>
            <a:custGeom>
              <a:avLst/>
              <a:gdLst/>
              <a:ahLst/>
              <a:cxnLst/>
              <a:rect l="l" t="t" r="r" b="b"/>
              <a:pathLst>
                <a:path w="2594198" h="523618">
                  <a:moveTo>
                    <a:pt x="2390998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2594198" y="523618"/>
                  </a:lnTo>
                  <a:lnTo>
                    <a:pt x="2390998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2390998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487690" y="-497644"/>
            <a:ext cx="19594614" cy="10947502"/>
          </a:xfrm>
          <a:custGeom>
            <a:avLst/>
            <a:gdLst/>
            <a:ahLst/>
            <a:cxnLst/>
            <a:rect l="l" t="t" r="r" b="b"/>
            <a:pathLst>
              <a:path w="19594614" h="10947502">
                <a:moveTo>
                  <a:pt x="0" y="0"/>
                </a:moveTo>
                <a:lnTo>
                  <a:pt x="19594613" y="0"/>
                </a:lnTo>
                <a:lnTo>
                  <a:pt x="19594613" y="10947502"/>
                </a:lnTo>
                <a:lnTo>
                  <a:pt x="0" y="1094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96" b="-3696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261196" y="1028700"/>
            <a:ext cx="2520315" cy="8229600"/>
          </a:xfrm>
          <a:custGeom>
            <a:avLst/>
            <a:gdLst/>
            <a:ahLst/>
            <a:cxnLst/>
            <a:rect l="l" t="t" r="r" b="b"/>
            <a:pathLst>
              <a:path w="2520315" h="8229600">
                <a:moveTo>
                  <a:pt x="0" y="0"/>
                </a:moveTo>
                <a:lnTo>
                  <a:pt x="2520315" y="0"/>
                </a:lnTo>
                <a:lnTo>
                  <a:pt x="25203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56192" y="491486"/>
            <a:ext cx="2324862" cy="4114800"/>
          </a:xfrm>
          <a:custGeom>
            <a:avLst/>
            <a:gdLst/>
            <a:ahLst/>
            <a:cxnLst/>
            <a:rect l="l" t="t" r="r" b="b"/>
            <a:pathLst>
              <a:path w="2324862" h="4114800">
                <a:moveTo>
                  <a:pt x="0" y="0"/>
                </a:moveTo>
                <a:lnTo>
                  <a:pt x="2324862" y="0"/>
                </a:lnTo>
                <a:lnTo>
                  <a:pt x="2324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084579" y="1503727"/>
            <a:ext cx="8729227" cy="254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79"/>
              </a:lnSpc>
            </a:pPr>
            <a:r>
              <a:rPr lang="en-US" sz="734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 SESSION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11747" y="4693077"/>
            <a:ext cx="7688770" cy="176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5"/>
              </a:lnSpc>
            </a:pPr>
            <a:r>
              <a:rPr lang="en-US" sz="4797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If you have any questions, feel free to ask now...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020223" y="213032"/>
            <a:ext cx="966625" cy="1227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23"/>
              </a:lnSpc>
              <a:spcBef>
                <a:spcPct val="0"/>
              </a:spcBef>
            </a:pPr>
            <a:r>
              <a:rPr lang="en-US" sz="7159">
                <a:solidFill>
                  <a:srgbClr val="FFFFFF"/>
                </a:solidFill>
                <a:latin typeface="Intro Rust"/>
                <a:ea typeface="Intro Rust"/>
                <a:cs typeface="Intro Rust"/>
                <a:sym typeface="Intro Rust"/>
              </a:rPr>
              <a:t>15</a:t>
            </a: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Origins and Evolution of C Programming by shawon_siam</dc:title>
  <cp:lastModifiedBy>Shawon Islam</cp:lastModifiedBy>
  <cp:revision>4</cp:revision>
  <dcterms:created xsi:type="dcterms:W3CDTF">2006-08-16T00:00:00Z</dcterms:created>
  <dcterms:modified xsi:type="dcterms:W3CDTF">2026-01-07T12:41:14Z</dcterms:modified>
  <dc:identifier>DAGXZT77H7I</dc:identifier>
</cp:coreProperties>
</file>