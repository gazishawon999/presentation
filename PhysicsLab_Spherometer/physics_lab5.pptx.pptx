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jpe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84" r:id="rId4"/>
    <p:sldId id="280" r:id="rId5"/>
    <p:sldId id="260" r:id="rId6"/>
    <p:sldId id="281" r:id="rId7"/>
    <p:sldId id="261" r:id="rId8"/>
    <p:sldId id="262" r:id="rId9"/>
    <p:sldId id="263" r:id="rId10"/>
    <p:sldId id="264" r:id="rId11"/>
    <p:sldId id="265" r:id="rId12"/>
    <p:sldId id="266" r:id="rId13"/>
    <p:sldId id="267" r:id="rId14"/>
    <p:sldId id="268" r:id="rId15"/>
    <p:sldId id="269" r:id="rId16"/>
    <p:sldId id="270" r:id="rId17"/>
    <p:sldId id="272" r:id="rId18"/>
    <p:sldId id="271" r:id="rId19"/>
    <p:sldId id="273" r:id="rId20"/>
    <p:sldId id="282" r:id="rId21"/>
    <p:sldId id="276" r:id="rId22"/>
    <p:sldId id="275" r:id="rId23"/>
    <p:sldId id="277" r:id="rId24"/>
    <p:sldId id="283" r:id="rId25"/>
    <p:sldId id="27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presProps" Target="presProps.xml" /><Relationship Id="rId30"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GB"/>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1/7/2026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GB"/>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GB"/>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1/7/2026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1.jpe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1/7/2026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transition spd="slow">
    <p:wipe/>
  </p:transition>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3.tmp"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image" Target="../media/image4.tmp" /><Relationship Id="rId1" Type="http://schemas.openxmlformats.org/officeDocument/2006/relationships/slideLayout" Target="../slideLayouts/slideLayout6.xml" /></Relationships>
</file>

<file path=ppt/slides/_rels/slide8.xml.rels><?xml version="1.0" encoding="UTF-8" standalone="yes"?>
<Relationships xmlns="http://schemas.openxmlformats.org/package/2006/relationships"><Relationship Id="rId2" Type="http://schemas.openxmlformats.org/officeDocument/2006/relationships/image" Target="../media/image5.tmp" /><Relationship Id="rId1" Type="http://schemas.openxmlformats.org/officeDocument/2006/relationships/slideLayout" Target="../slideLayouts/slideLayout6.xml" /></Relationships>
</file>

<file path=ppt/slides/_rels/slide9.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image" Target="../media/image7.tmp"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7.tmp"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9.tmp" /><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9.tmp" /><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image" Target="../media/image11.jpeg" /><Relationship Id="rId1" Type="http://schemas.openxmlformats.org/officeDocument/2006/relationships/slideLayout" Target="../slideLayouts/slideLayout2.xml" /><Relationship Id="rId4" Type="http://schemas.openxmlformats.org/officeDocument/2006/relationships/image" Target="../media/image13.jpeg" /></Relationships>
</file>

<file path=ppt/slides/_rels/slide15.xml.rels><?xml version="1.0" encoding="UTF-8" standalone="yes"?>
<Relationships xmlns="http://schemas.openxmlformats.org/package/2006/relationships"><Relationship Id="rId3" Type="http://schemas.openxmlformats.org/officeDocument/2006/relationships/image" Target="../media/image15.jpeg" /><Relationship Id="rId2" Type="http://schemas.openxmlformats.org/officeDocument/2006/relationships/image" Target="../media/image14.jpeg" /><Relationship Id="rId1" Type="http://schemas.openxmlformats.org/officeDocument/2006/relationships/slideLayout" Target="../slideLayouts/slideLayout2.xml" /><Relationship Id="rId4" Type="http://schemas.openxmlformats.org/officeDocument/2006/relationships/image" Target="../media/image16.jpeg" /></Relationships>
</file>

<file path=ppt/slides/_rels/slide16.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image" Target="../media/image17.jpeg"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2" Type="http://schemas.openxmlformats.org/officeDocument/2006/relationships/image" Target="../media/image18.jpeg"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2" Type="http://schemas.openxmlformats.org/officeDocument/2006/relationships/image" Target="../media/image19.tmp"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2" Type="http://schemas.openxmlformats.org/officeDocument/2006/relationships/image" Target="../media/image20.tmp" /><Relationship Id="rId1" Type="http://schemas.openxmlformats.org/officeDocument/2006/relationships/slideLayout" Target="../slideLayouts/slideLayout6.xml" /></Relationships>
</file>

<file path=ppt/slides/_rels/slide24.xml.rels><?xml version="1.0" encoding="UTF-8" standalone="yes"?>
<Relationships xmlns="http://schemas.openxmlformats.org/package/2006/relationships"><Relationship Id="rId2" Type="http://schemas.openxmlformats.org/officeDocument/2006/relationships/image" Target="../media/image20.tmp" /><Relationship Id="rId1" Type="http://schemas.openxmlformats.org/officeDocument/2006/relationships/slideLayout" Target="../slideLayouts/slideLayout6.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5AA10D4-F4BF-E9D0-DF03-308BE652C6ED}"/>
              </a:ext>
            </a:extLst>
          </p:cNvPr>
          <p:cNvSpPr txBox="1"/>
          <p:nvPr/>
        </p:nvSpPr>
        <p:spPr>
          <a:xfrm>
            <a:off x="1947786" y="1356931"/>
            <a:ext cx="10452032" cy="3693319"/>
          </a:xfrm>
          <a:prstGeom prst="rect">
            <a:avLst/>
          </a:prstGeom>
          <a:noFill/>
        </p:spPr>
        <p:txBody>
          <a:bodyPr wrap="square" rtlCol="0">
            <a:spAutoFit/>
          </a:bodyPr>
          <a:lstStyle/>
          <a:p>
            <a:pPr lvl="3"/>
            <a:r>
              <a:rPr lang="en-GB" sz="7200" b="1" dirty="0">
                <a:solidFill>
                  <a:schemeClr val="tx1">
                    <a:lumMod val="10000"/>
                    <a:lumOff val="90000"/>
                  </a:schemeClr>
                </a:solidFill>
                <a:latin typeface="Algerian" pitchFamily="82" charset="0"/>
                <a:ea typeface="Amasis MT Pro Black" panose="02000000000000000000" pitchFamily="2" charset="0"/>
                <a:cs typeface="ADLaM Display" panose="02010000000000000000" pitchFamily="2" charset="0"/>
              </a:rPr>
              <a:t>Welcome To</a:t>
            </a:r>
          </a:p>
          <a:p>
            <a:pPr lvl="7"/>
            <a:r>
              <a:rPr lang="en-GB" sz="7200" b="1" dirty="0" err="1">
                <a:solidFill>
                  <a:schemeClr val="tx1">
                    <a:lumMod val="10000"/>
                    <a:lumOff val="90000"/>
                  </a:schemeClr>
                </a:solidFill>
                <a:latin typeface="Algerian" pitchFamily="82" charset="0"/>
                <a:ea typeface="Amasis MT Pro Black" panose="02000000000000000000" pitchFamily="2" charset="0"/>
                <a:cs typeface="ADLaM Display" panose="02010000000000000000" pitchFamily="2" charset="0"/>
              </a:rPr>
              <a:t>OuR</a:t>
            </a:r>
            <a:endParaRPr lang="en-GB" sz="7200" b="1" dirty="0">
              <a:solidFill>
                <a:schemeClr val="tx1">
                  <a:lumMod val="10000"/>
                  <a:lumOff val="90000"/>
                </a:schemeClr>
              </a:solidFill>
              <a:latin typeface="Algerian" pitchFamily="82" charset="0"/>
              <a:ea typeface="Amasis MT Pro Black" panose="02000000000000000000" pitchFamily="2" charset="0"/>
              <a:cs typeface="ADLaM Display" panose="02010000000000000000" pitchFamily="2" charset="0"/>
            </a:endParaRPr>
          </a:p>
          <a:p>
            <a:pPr lvl="2"/>
            <a:r>
              <a:rPr lang="en-GB" sz="7200" b="1" dirty="0">
                <a:solidFill>
                  <a:schemeClr val="tx1">
                    <a:lumMod val="10000"/>
                    <a:lumOff val="90000"/>
                  </a:schemeClr>
                </a:solidFill>
                <a:latin typeface="Algerian" pitchFamily="82" charset="0"/>
                <a:ea typeface="Amasis MT Pro Black" panose="02000000000000000000" pitchFamily="2" charset="0"/>
                <a:cs typeface="ADLaM Display" panose="02010000000000000000" pitchFamily="2" charset="0"/>
              </a:rPr>
              <a:t>Presentation</a:t>
            </a:r>
          </a:p>
          <a:p>
            <a:pPr algn="l"/>
            <a:endParaRPr lang="en-GB" b="1" dirty="0"/>
          </a:p>
        </p:txBody>
      </p:sp>
    </p:spTree>
    <p:extLst>
      <p:ext uri="{BB962C8B-B14F-4D97-AF65-F5344CB8AC3E}">
        <p14:creationId xmlns:p14="http://schemas.microsoft.com/office/powerpoint/2010/main" val="24196824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900" decel="100000" fill="hold"/>
                                        <p:tgtEl>
                                          <p:spTgt spid="7"/>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10000"/>
            <a:lumOff val="90000"/>
          </a:schemeClr>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FFC52A7-AB69-9F28-6322-2C5CE4FCECD2}"/>
              </a:ext>
            </a:extLst>
          </p:cNvPr>
          <p:cNvSpPr txBox="1"/>
          <p:nvPr/>
        </p:nvSpPr>
        <p:spPr>
          <a:xfrm>
            <a:off x="5179562" y="2502374"/>
            <a:ext cx="2008502" cy="1580641"/>
          </a:xfrm>
          <a:prstGeom prst="rect">
            <a:avLst/>
          </a:prstGeom>
          <a:noFill/>
        </p:spPr>
        <p:txBody>
          <a:bodyPr wrap="square" rtlCol="0">
            <a:spAutoFit/>
          </a:bodyPr>
          <a:lstStyle/>
          <a:p>
            <a:pPr algn="l"/>
            <a:endParaRPr lang="en-US" b="1" dirty="0"/>
          </a:p>
        </p:txBody>
      </p:sp>
      <p:sp>
        <p:nvSpPr>
          <p:cNvPr id="13" name="TextBox 12">
            <a:extLst>
              <a:ext uri="{FF2B5EF4-FFF2-40B4-BE49-F238E27FC236}">
                <a16:creationId xmlns:a16="http://schemas.microsoft.com/office/drawing/2014/main" id="{E2209672-133B-EDE9-45FF-2869E39E4DF7}"/>
              </a:ext>
            </a:extLst>
          </p:cNvPr>
          <p:cNvSpPr txBox="1"/>
          <p:nvPr/>
        </p:nvSpPr>
        <p:spPr>
          <a:xfrm>
            <a:off x="2008133" y="171526"/>
            <a:ext cx="7563728" cy="1015663"/>
          </a:xfrm>
          <a:prstGeom prst="rect">
            <a:avLst/>
          </a:prstGeom>
          <a:solidFill>
            <a:schemeClr val="accent3">
              <a:lumMod val="20000"/>
              <a:lumOff val="80000"/>
            </a:schemeClr>
          </a:solidFill>
        </p:spPr>
        <p:txBody>
          <a:bodyPr wrap="square" rtlCol="0" anchor="ctr">
            <a:spAutoFit/>
          </a:bodyPr>
          <a:lstStyle/>
          <a:p>
            <a:pPr algn="ctr"/>
            <a:r>
              <a:rPr lang="en-GB" sz="6000" b="1" i="1" u="sng" dirty="0">
                <a:solidFill>
                  <a:srgbClr val="FF0000"/>
                </a:solidFill>
                <a:latin typeface="Amasis MT Pro Black" panose="02000000000000000000" pitchFamily="2" charset="0"/>
                <a:ea typeface="Amasis MT Pro Black" panose="02000000000000000000" pitchFamily="2" charset="0"/>
              </a:rPr>
              <a:t>OUR PRESENTERS</a:t>
            </a:r>
            <a:endParaRPr lang="en-US" sz="6000" b="1" i="1" u="sng" dirty="0">
              <a:solidFill>
                <a:srgbClr val="FF0000"/>
              </a:solidFill>
              <a:latin typeface="Amasis MT Pro Black" panose="02000000000000000000" pitchFamily="2" charset="0"/>
              <a:ea typeface="Amasis MT Pro Black" panose="02000000000000000000" pitchFamily="2" charset="0"/>
            </a:endParaRPr>
          </a:p>
        </p:txBody>
      </p:sp>
      <p:sp>
        <p:nvSpPr>
          <p:cNvPr id="14" name="Scroll: Horizontal 13">
            <a:extLst>
              <a:ext uri="{FF2B5EF4-FFF2-40B4-BE49-F238E27FC236}">
                <a16:creationId xmlns:a16="http://schemas.microsoft.com/office/drawing/2014/main" id="{E36686A0-3BF7-E797-1CFC-F9A3FB62313A}"/>
              </a:ext>
            </a:extLst>
          </p:cNvPr>
          <p:cNvSpPr/>
          <p:nvPr/>
        </p:nvSpPr>
        <p:spPr>
          <a:xfrm>
            <a:off x="673229" y="1207936"/>
            <a:ext cx="3085159" cy="2508342"/>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US" dirty="0"/>
          </a:p>
        </p:txBody>
      </p:sp>
      <p:sp>
        <p:nvSpPr>
          <p:cNvPr id="16" name="Scroll: Horizontal 15">
            <a:extLst>
              <a:ext uri="{FF2B5EF4-FFF2-40B4-BE49-F238E27FC236}">
                <a16:creationId xmlns:a16="http://schemas.microsoft.com/office/drawing/2014/main" id="{14C24A5C-F7E6-4779-24A7-99A2FB530CF7}"/>
              </a:ext>
            </a:extLst>
          </p:cNvPr>
          <p:cNvSpPr/>
          <p:nvPr/>
        </p:nvSpPr>
        <p:spPr>
          <a:xfrm>
            <a:off x="3956888" y="1221543"/>
            <a:ext cx="3088642" cy="2508342"/>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croll: Horizontal 17">
            <a:extLst>
              <a:ext uri="{FF2B5EF4-FFF2-40B4-BE49-F238E27FC236}">
                <a16:creationId xmlns:a16="http://schemas.microsoft.com/office/drawing/2014/main" id="{2C43CBE4-4508-8B2B-1B73-6310D67FBA86}"/>
              </a:ext>
            </a:extLst>
          </p:cNvPr>
          <p:cNvSpPr/>
          <p:nvPr/>
        </p:nvSpPr>
        <p:spPr>
          <a:xfrm>
            <a:off x="6706520" y="3554850"/>
            <a:ext cx="3967186" cy="1963437"/>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Scroll: Horizontal 19">
            <a:extLst>
              <a:ext uri="{FF2B5EF4-FFF2-40B4-BE49-F238E27FC236}">
                <a16:creationId xmlns:a16="http://schemas.microsoft.com/office/drawing/2014/main" id="{6D46E3E6-3730-489E-BDB6-08431EB75386}"/>
              </a:ext>
            </a:extLst>
          </p:cNvPr>
          <p:cNvSpPr/>
          <p:nvPr/>
        </p:nvSpPr>
        <p:spPr>
          <a:xfrm>
            <a:off x="7342617" y="1181959"/>
            <a:ext cx="3088642" cy="2164051"/>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croll: Horizontal 21">
            <a:extLst>
              <a:ext uri="{FF2B5EF4-FFF2-40B4-BE49-F238E27FC236}">
                <a16:creationId xmlns:a16="http://schemas.microsoft.com/office/drawing/2014/main" id="{B9E51F5C-2E68-697A-ED64-234370A18F52}"/>
              </a:ext>
            </a:extLst>
          </p:cNvPr>
          <p:cNvSpPr/>
          <p:nvPr/>
        </p:nvSpPr>
        <p:spPr>
          <a:xfrm>
            <a:off x="1417385" y="3743492"/>
            <a:ext cx="3967186" cy="1774795"/>
          </a:xfrm>
          <a:prstGeom prst="horizontalScrol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AA69C3F1-8D59-9221-1B6A-89C1FC1B2D0D}"/>
              </a:ext>
            </a:extLst>
          </p:cNvPr>
          <p:cNvSpPr txBox="1"/>
          <p:nvPr/>
        </p:nvSpPr>
        <p:spPr>
          <a:xfrm>
            <a:off x="1321476" y="1932360"/>
            <a:ext cx="2079502" cy="923330"/>
          </a:xfrm>
          <a:prstGeom prst="rect">
            <a:avLst/>
          </a:prstGeom>
          <a:noFill/>
        </p:spPr>
        <p:txBody>
          <a:bodyPr wrap="square" rtlCol="0">
            <a:spAutoFit/>
          </a:bodyPr>
          <a:lstStyle/>
          <a:p>
            <a:pPr algn="l"/>
            <a:r>
              <a:rPr lang="en-GB" b="1" u="sng" dirty="0">
                <a:solidFill>
                  <a:schemeClr val="bg1"/>
                </a:solidFill>
                <a:latin typeface="Amasis MT Pro" panose="02000000000000000000" pitchFamily="2" charset="0"/>
                <a:ea typeface="Amasis MT Pro" panose="02000000000000000000" pitchFamily="2" charset="0"/>
              </a:rPr>
              <a:t>SHAWON GAZI</a:t>
            </a:r>
          </a:p>
          <a:p>
            <a:r>
              <a:rPr lang="en-GB" b="1" u="sng" dirty="0">
                <a:solidFill>
                  <a:schemeClr val="bg1"/>
                </a:solidFill>
                <a:latin typeface="Amasis MT Pro" panose="02000000000000000000" pitchFamily="2" charset="0"/>
                <a:ea typeface="Amasis MT Pro" panose="02000000000000000000" pitchFamily="2" charset="0"/>
              </a:rPr>
              <a:t>     241400031</a:t>
            </a:r>
          </a:p>
          <a:p>
            <a:pPr algn="l"/>
            <a:endParaRPr lang="en-US" dirty="0">
              <a:latin typeface="Amasis MT Pro" panose="02000000000000000000" pitchFamily="2" charset="0"/>
              <a:ea typeface="Amasis MT Pro" panose="02000000000000000000" pitchFamily="2" charset="0"/>
            </a:endParaRPr>
          </a:p>
        </p:txBody>
      </p:sp>
      <p:sp>
        <p:nvSpPr>
          <p:cNvPr id="25" name="TextBox 24">
            <a:extLst>
              <a:ext uri="{FF2B5EF4-FFF2-40B4-BE49-F238E27FC236}">
                <a16:creationId xmlns:a16="http://schemas.microsoft.com/office/drawing/2014/main" id="{30AE8A6F-8319-C48A-F665-C915E48C8408}"/>
              </a:ext>
            </a:extLst>
          </p:cNvPr>
          <p:cNvSpPr txBox="1"/>
          <p:nvPr/>
        </p:nvSpPr>
        <p:spPr>
          <a:xfrm>
            <a:off x="4863153" y="1882220"/>
            <a:ext cx="2008502" cy="923330"/>
          </a:xfrm>
          <a:prstGeom prst="rect">
            <a:avLst/>
          </a:prstGeom>
          <a:noFill/>
        </p:spPr>
        <p:txBody>
          <a:bodyPr wrap="square" rtlCol="0">
            <a:spAutoFit/>
          </a:bodyPr>
          <a:lstStyle/>
          <a:p>
            <a:pPr algn="l"/>
            <a:r>
              <a:rPr lang="en-GB" b="1" u="sng" dirty="0">
                <a:solidFill>
                  <a:schemeClr val="bg1"/>
                </a:solidFill>
                <a:latin typeface="Amasis MT Pro" panose="02000000000000000000" pitchFamily="2" charset="0"/>
                <a:ea typeface="Amasis MT Pro" panose="02000000000000000000" pitchFamily="2" charset="0"/>
              </a:rPr>
              <a:t> MD. SIAM     241400032</a:t>
            </a:r>
          </a:p>
          <a:p>
            <a:pPr algn="l"/>
            <a:endParaRPr lang="en-US" dirty="0">
              <a:latin typeface="Amasis MT Pro" panose="02000000000000000000" pitchFamily="2" charset="0"/>
              <a:ea typeface="Amasis MT Pro" panose="02000000000000000000" pitchFamily="2" charset="0"/>
            </a:endParaRPr>
          </a:p>
        </p:txBody>
      </p:sp>
      <p:sp>
        <p:nvSpPr>
          <p:cNvPr id="27" name="TextBox 26">
            <a:extLst>
              <a:ext uri="{FF2B5EF4-FFF2-40B4-BE49-F238E27FC236}">
                <a16:creationId xmlns:a16="http://schemas.microsoft.com/office/drawing/2014/main" id="{CB70B765-06D1-AE05-A98F-22E591B26827}"/>
              </a:ext>
            </a:extLst>
          </p:cNvPr>
          <p:cNvSpPr txBox="1"/>
          <p:nvPr/>
        </p:nvSpPr>
        <p:spPr>
          <a:xfrm>
            <a:off x="7341701" y="4083015"/>
            <a:ext cx="3603150" cy="950598"/>
          </a:xfrm>
          <a:prstGeom prst="rect">
            <a:avLst/>
          </a:prstGeom>
          <a:noFill/>
        </p:spPr>
        <p:txBody>
          <a:bodyPr wrap="square" rtlCol="0">
            <a:spAutoFit/>
          </a:bodyPr>
          <a:lstStyle/>
          <a:p>
            <a:pPr algn="l"/>
            <a:r>
              <a:rPr lang="en-GB" b="1" u="sng" dirty="0">
                <a:solidFill>
                  <a:schemeClr val="bg1"/>
                </a:solidFill>
                <a:latin typeface="Amasis MT Pro" panose="02000000000000000000" pitchFamily="2" charset="0"/>
                <a:ea typeface="Amasis MT Pro" panose="02000000000000000000" pitchFamily="2" charset="0"/>
              </a:rPr>
              <a:t>TAMANNA AHMED TASIN</a:t>
            </a:r>
          </a:p>
          <a:p>
            <a:pPr algn="l"/>
            <a:r>
              <a:rPr lang="en-GB" b="1" u="sng" dirty="0">
                <a:solidFill>
                  <a:schemeClr val="bg1"/>
                </a:solidFill>
                <a:latin typeface="Amasis MT Pro" panose="02000000000000000000" pitchFamily="2" charset="0"/>
                <a:ea typeface="Amasis MT Pro" panose="02000000000000000000" pitchFamily="2" charset="0"/>
              </a:rPr>
              <a:t>             241400033</a:t>
            </a:r>
          </a:p>
          <a:p>
            <a:pPr algn="l"/>
            <a:endParaRPr lang="en-US" dirty="0">
              <a:latin typeface="Amasis MT Pro" panose="02000000000000000000" pitchFamily="2" charset="0"/>
              <a:ea typeface="Amasis MT Pro" panose="02000000000000000000" pitchFamily="2" charset="0"/>
            </a:endParaRPr>
          </a:p>
        </p:txBody>
      </p:sp>
      <p:sp>
        <p:nvSpPr>
          <p:cNvPr id="29" name="TextBox 28">
            <a:extLst>
              <a:ext uri="{FF2B5EF4-FFF2-40B4-BE49-F238E27FC236}">
                <a16:creationId xmlns:a16="http://schemas.microsoft.com/office/drawing/2014/main" id="{90102B28-8EC8-E33E-BFBA-82B9D8CBB6FE}"/>
              </a:ext>
            </a:extLst>
          </p:cNvPr>
          <p:cNvSpPr txBox="1"/>
          <p:nvPr/>
        </p:nvSpPr>
        <p:spPr>
          <a:xfrm>
            <a:off x="2008133" y="4215610"/>
            <a:ext cx="3213539" cy="923330"/>
          </a:xfrm>
          <a:prstGeom prst="rect">
            <a:avLst/>
          </a:prstGeom>
          <a:noFill/>
        </p:spPr>
        <p:txBody>
          <a:bodyPr wrap="square" rtlCol="0">
            <a:spAutoFit/>
          </a:bodyPr>
          <a:lstStyle/>
          <a:p>
            <a:pPr algn="l"/>
            <a:r>
              <a:rPr lang="en-GB" b="1" u="sng" dirty="0">
                <a:solidFill>
                  <a:schemeClr val="bg1"/>
                </a:solidFill>
                <a:latin typeface="Amasis MT Pro" panose="02000000000000000000" pitchFamily="2" charset="0"/>
                <a:ea typeface="Amasis MT Pro" panose="02000000000000000000" pitchFamily="2" charset="0"/>
              </a:rPr>
              <a:t>AFROZA BINTE ANSARUL</a:t>
            </a:r>
          </a:p>
          <a:p>
            <a:pPr algn="l"/>
            <a:r>
              <a:rPr lang="en-GB" b="1" u="sng" dirty="0">
                <a:solidFill>
                  <a:schemeClr val="bg1"/>
                </a:solidFill>
                <a:latin typeface="Amasis MT Pro" panose="02000000000000000000" pitchFamily="2" charset="0"/>
                <a:ea typeface="Amasis MT Pro" panose="02000000000000000000" pitchFamily="2" charset="0"/>
              </a:rPr>
              <a:t>           241400042</a:t>
            </a:r>
          </a:p>
          <a:p>
            <a:pPr algn="l"/>
            <a:endParaRPr lang="en-US" dirty="0">
              <a:latin typeface="Amasis MT Pro" panose="02000000000000000000" pitchFamily="2" charset="0"/>
              <a:ea typeface="Amasis MT Pro" panose="02000000000000000000" pitchFamily="2" charset="0"/>
            </a:endParaRPr>
          </a:p>
        </p:txBody>
      </p:sp>
      <p:sp>
        <p:nvSpPr>
          <p:cNvPr id="31" name="TextBox 30">
            <a:extLst>
              <a:ext uri="{FF2B5EF4-FFF2-40B4-BE49-F238E27FC236}">
                <a16:creationId xmlns:a16="http://schemas.microsoft.com/office/drawing/2014/main" id="{24BAAEDC-F6EC-DCDB-6C09-4E51C51CDDB7}"/>
              </a:ext>
            </a:extLst>
          </p:cNvPr>
          <p:cNvSpPr txBox="1"/>
          <p:nvPr/>
        </p:nvSpPr>
        <p:spPr>
          <a:xfrm>
            <a:off x="7951795" y="1802319"/>
            <a:ext cx="2008502" cy="923330"/>
          </a:xfrm>
          <a:prstGeom prst="rect">
            <a:avLst/>
          </a:prstGeom>
          <a:noFill/>
        </p:spPr>
        <p:txBody>
          <a:bodyPr wrap="square" rtlCol="0">
            <a:spAutoFit/>
          </a:bodyPr>
          <a:lstStyle/>
          <a:p>
            <a:pPr algn="l"/>
            <a:r>
              <a:rPr lang="en-GB" b="1" u="sng" dirty="0">
                <a:solidFill>
                  <a:schemeClr val="bg1"/>
                </a:solidFill>
                <a:latin typeface="Amasis MT Pro" panose="02000000000000000000" pitchFamily="2" charset="0"/>
                <a:ea typeface="Amasis MT Pro" panose="02000000000000000000" pitchFamily="2" charset="0"/>
              </a:rPr>
              <a:t>PROMA BASAK</a:t>
            </a:r>
          </a:p>
          <a:p>
            <a:pPr algn="l"/>
            <a:r>
              <a:rPr lang="en-GB" b="1" u="sng" dirty="0">
                <a:solidFill>
                  <a:schemeClr val="bg1"/>
                </a:solidFill>
                <a:latin typeface="Amasis MT Pro" panose="02000000000000000000" pitchFamily="2" charset="0"/>
                <a:ea typeface="Amasis MT Pro" panose="02000000000000000000" pitchFamily="2" charset="0"/>
              </a:rPr>
              <a:t>   241400058</a:t>
            </a:r>
          </a:p>
          <a:p>
            <a:pPr algn="l"/>
            <a:endParaRPr lang="en-US" dirty="0">
              <a:latin typeface="Amasis MT Pro" panose="02000000000000000000" pitchFamily="2" charset="0"/>
              <a:ea typeface="Amasis MT Pro" panose="02000000000000000000" pitchFamily="2" charset="0"/>
            </a:endParaRPr>
          </a:p>
        </p:txBody>
      </p:sp>
    </p:spTree>
    <p:extLst>
      <p:ext uri="{BB962C8B-B14F-4D97-AF65-F5344CB8AC3E}">
        <p14:creationId xmlns:p14="http://schemas.microsoft.com/office/powerpoint/2010/main" val="81566639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arn(inVertic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barn(inVertical)">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arn(inVertical)">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barn(inVertical)">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fill="hold"/>
                                        <p:tgtEl>
                                          <p:spTgt spid="23"/>
                                        </p:tgtEl>
                                        <p:attrNameLst>
                                          <p:attrName>ppt_x</p:attrName>
                                        </p:attrNameLst>
                                      </p:cBhvr>
                                      <p:tavLst>
                                        <p:tav tm="0">
                                          <p:val>
                                            <p:strVal val="#ppt_x"/>
                                          </p:val>
                                        </p:tav>
                                        <p:tav tm="100000">
                                          <p:val>
                                            <p:strVal val="#ppt_x"/>
                                          </p:val>
                                        </p:tav>
                                      </p:tavLst>
                                    </p:anim>
                                    <p:anim calcmode="lin" valueType="num">
                                      <p:cBhvr additive="base">
                                        <p:cTn id="33"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5"/>
                                        </p:tgtEl>
                                        <p:attrNameLst>
                                          <p:attrName>style.visibility</p:attrName>
                                        </p:attrNameLst>
                                      </p:cBhvr>
                                      <p:to>
                                        <p:strVal val="visible"/>
                                      </p:to>
                                    </p:set>
                                    <p:anim calcmode="lin" valueType="num">
                                      <p:cBhvr additive="base">
                                        <p:cTn id="38" dur="500" fill="hold"/>
                                        <p:tgtEl>
                                          <p:spTgt spid="25"/>
                                        </p:tgtEl>
                                        <p:attrNameLst>
                                          <p:attrName>ppt_x</p:attrName>
                                        </p:attrNameLst>
                                      </p:cBhvr>
                                      <p:tavLst>
                                        <p:tav tm="0">
                                          <p:val>
                                            <p:strVal val="#ppt_x"/>
                                          </p:val>
                                        </p:tav>
                                        <p:tav tm="100000">
                                          <p:val>
                                            <p:strVal val="#ppt_x"/>
                                          </p:val>
                                        </p:tav>
                                      </p:tavLst>
                                    </p:anim>
                                    <p:anim calcmode="lin" valueType="num">
                                      <p:cBhvr additive="base">
                                        <p:cTn id="39"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27"/>
                                        </p:tgtEl>
                                        <p:attrNameLst>
                                          <p:attrName>style.visibility</p:attrName>
                                        </p:attrNameLst>
                                      </p:cBhvr>
                                      <p:to>
                                        <p:strVal val="visible"/>
                                      </p:to>
                                    </p:set>
                                    <p:anim calcmode="lin" valueType="num">
                                      <p:cBhvr additive="base">
                                        <p:cTn id="44" dur="500" fill="hold"/>
                                        <p:tgtEl>
                                          <p:spTgt spid="27"/>
                                        </p:tgtEl>
                                        <p:attrNameLst>
                                          <p:attrName>ppt_x</p:attrName>
                                        </p:attrNameLst>
                                      </p:cBhvr>
                                      <p:tavLst>
                                        <p:tav tm="0">
                                          <p:val>
                                            <p:strVal val="#ppt_x"/>
                                          </p:val>
                                        </p:tav>
                                        <p:tav tm="100000">
                                          <p:val>
                                            <p:strVal val="#ppt_x"/>
                                          </p:val>
                                        </p:tav>
                                      </p:tavLst>
                                    </p:anim>
                                    <p:anim calcmode="lin" valueType="num">
                                      <p:cBhvr additive="base">
                                        <p:cTn id="45"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29"/>
                                        </p:tgtEl>
                                        <p:attrNameLst>
                                          <p:attrName>style.visibility</p:attrName>
                                        </p:attrNameLst>
                                      </p:cBhvr>
                                      <p:to>
                                        <p:strVal val="visible"/>
                                      </p:to>
                                    </p:set>
                                    <p:anim calcmode="lin" valueType="num">
                                      <p:cBhvr additive="base">
                                        <p:cTn id="50" dur="500" fill="hold"/>
                                        <p:tgtEl>
                                          <p:spTgt spid="29"/>
                                        </p:tgtEl>
                                        <p:attrNameLst>
                                          <p:attrName>ppt_x</p:attrName>
                                        </p:attrNameLst>
                                      </p:cBhvr>
                                      <p:tavLst>
                                        <p:tav tm="0">
                                          <p:val>
                                            <p:strVal val="#ppt_x"/>
                                          </p:val>
                                        </p:tav>
                                        <p:tav tm="100000">
                                          <p:val>
                                            <p:strVal val="#ppt_x"/>
                                          </p:val>
                                        </p:tav>
                                      </p:tavLst>
                                    </p:anim>
                                    <p:anim calcmode="lin" valueType="num">
                                      <p:cBhvr additive="base">
                                        <p:cTn id="51"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31"/>
                                        </p:tgtEl>
                                        <p:attrNameLst>
                                          <p:attrName>style.visibility</p:attrName>
                                        </p:attrNameLst>
                                      </p:cBhvr>
                                      <p:to>
                                        <p:strVal val="visible"/>
                                      </p:to>
                                    </p:set>
                                    <p:anim calcmode="lin" valueType="num">
                                      <p:cBhvr additive="base">
                                        <p:cTn id="56" dur="500" fill="hold"/>
                                        <p:tgtEl>
                                          <p:spTgt spid="31"/>
                                        </p:tgtEl>
                                        <p:attrNameLst>
                                          <p:attrName>ppt_x</p:attrName>
                                        </p:attrNameLst>
                                      </p:cBhvr>
                                      <p:tavLst>
                                        <p:tav tm="0">
                                          <p:val>
                                            <p:strVal val="#ppt_x"/>
                                          </p:val>
                                        </p:tav>
                                        <p:tav tm="100000">
                                          <p:val>
                                            <p:strVal val="#ppt_x"/>
                                          </p:val>
                                        </p:tav>
                                      </p:tavLst>
                                    </p:anim>
                                    <p:anim calcmode="lin" valueType="num">
                                      <p:cBhvr additive="base">
                                        <p:cTn id="57"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8" grpId="0" animBg="1"/>
      <p:bldP spid="20" grpId="0" animBg="1"/>
      <p:bldP spid="22" grpId="0" animBg="1"/>
      <p:bldP spid="23" grpId="0"/>
      <p:bldP spid="25" grpId="0"/>
      <p:bldP spid="27" grpId="0"/>
      <p:bldP spid="29" grpId="0"/>
      <p:bldP spid="3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25575DA-0C62-15E5-25FA-0AAE493DA361}"/>
              </a:ext>
            </a:extLst>
          </p:cNvPr>
          <p:cNvSpPr>
            <a:spLocks noGrp="1"/>
          </p:cNvSpPr>
          <p:nvPr>
            <p:ph type="title"/>
          </p:nvPr>
        </p:nvSpPr>
        <p:spPr>
          <a:xfrm>
            <a:off x="1070645" y="855721"/>
            <a:ext cx="10666234" cy="965744"/>
          </a:xfrm>
        </p:spPr>
        <p:txBody>
          <a:bodyPr anchor="t"/>
          <a:lstStyle/>
          <a:p>
            <a:r>
              <a:rPr lang="en-GB" sz="4400" b="1" dirty="0">
                <a:latin typeface="Algerian" pitchFamily="82" charset="0"/>
              </a:rPr>
              <a:t>Who will explain Which parts</a:t>
            </a:r>
            <a:endParaRPr lang="en-US" sz="4400" b="1" dirty="0">
              <a:latin typeface="Algerian" pitchFamily="82" charset="0"/>
            </a:endParaRPr>
          </a:p>
        </p:txBody>
      </p:sp>
      <p:sp>
        <p:nvSpPr>
          <p:cNvPr id="6" name="TextBox 5">
            <a:extLst>
              <a:ext uri="{FF2B5EF4-FFF2-40B4-BE49-F238E27FC236}">
                <a16:creationId xmlns:a16="http://schemas.microsoft.com/office/drawing/2014/main" id="{62D8BBAC-AC5F-D418-AEE1-7B0167E5C139}"/>
              </a:ext>
            </a:extLst>
          </p:cNvPr>
          <p:cNvSpPr txBox="1"/>
          <p:nvPr/>
        </p:nvSpPr>
        <p:spPr>
          <a:xfrm>
            <a:off x="947134" y="2497379"/>
            <a:ext cx="10726725" cy="5078313"/>
          </a:xfrm>
          <a:prstGeom prst="rect">
            <a:avLst/>
          </a:prstGeom>
          <a:noFill/>
        </p:spPr>
        <p:txBody>
          <a:bodyPr wrap="square" rtlCol="0">
            <a:spAutoFit/>
          </a:bodyPr>
          <a:lstStyle/>
          <a:p>
            <a:pPr marL="742950" indent="-742950" algn="l">
              <a:buAutoNum type="arabicPeriod"/>
            </a:pPr>
            <a:r>
              <a:rPr lang="en-GB" sz="3600" b="1" dirty="0">
                <a:latin typeface="Amasis MT Pro Black" panose="02000000000000000000" pitchFamily="2" charset="0"/>
                <a:ea typeface="Amasis MT Pro Black" panose="02000000000000000000" pitchFamily="2" charset="0"/>
              </a:rPr>
              <a:t>Name of Experiment, Objective &amp; learning Outcomes By- </a:t>
            </a:r>
            <a:r>
              <a:rPr lang="en-GB" sz="3600" b="1" dirty="0">
                <a:solidFill>
                  <a:schemeClr val="accent1"/>
                </a:solidFill>
                <a:latin typeface="Amasis MT Pro Black" panose="02000000000000000000" pitchFamily="2" charset="0"/>
                <a:ea typeface="Amasis MT Pro Black" panose="02000000000000000000" pitchFamily="2" charset="0"/>
              </a:rPr>
              <a:t>SHAWON</a:t>
            </a:r>
          </a:p>
          <a:p>
            <a:pPr marL="742950" indent="-742950" algn="l">
              <a:buAutoNum type="arabicPeriod"/>
            </a:pPr>
            <a:r>
              <a:rPr lang="en-GB" sz="3600" b="1" dirty="0">
                <a:latin typeface="Amasis MT Pro Black" panose="02000000000000000000" pitchFamily="2" charset="0"/>
                <a:ea typeface="Amasis MT Pro Black" panose="02000000000000000000" pitchFamily="2" charset="0"/>
              </a:rPr>
              <a:t>Theory By- </a:t>
            </a:r>
            <a:r>
              <a:rPr lang="en-GB" sz="3600" b="1" dirty="0">
                <a:solidFill>
                  <a:schemeClr val="accent1"/>
                </a:solidFill>
                <a:latin typeface="Amasis MT Pro Black" panose="02000000000000000000" pitchFamily="2" charset="0"/>
                <a:ea typeface="Amasis MT Pro Black" panose="02000000000000000000" pitchFamily="2" charset="0"/>
              </a:rPr>
              <a:t>TAMANNA</a:t>
            </a:r>
          </a:p>
          <a:p>
            <a:pPr marL="742950" indent="-742950" algn="l">
              <a:buAutoNum type="arabicPeriod"/>
            </a:pPr>
            <a:r>
              <a:rPr lang="en-GB" sz="3600" b="1" dirty="0">
                <a:latin typeface="Amasis MT Pro Black" panose="02000000000000000000" pitchFamily="2" charset="0"/>
                <a:ea typeface="Amasis MT Pro Black" panose="02000000000000000000" pitchFamily="2" charset="0"/>
              </a:rPr>
              <a:t>Apparatus, Procedure(1-3) By- </a:t>
            </a:r>
            <a:r>
              <a:rPr lang="en-GB" sz="3600" b="1" dirty="0">
                <a:solidFill>
                  <a:schemeClr val="accent1"/>
                </a:solidFill>
                <a:latin typeface="Amasis MT Pro Black" panose="02000000000000000000" pitchFamily="2" charset="0"/>
                <a:ea typeface="Amasis MT Pro Black" panose="02000000000000000000" pitchFamily="2" charset="0"/>
              </a:rPr>
              <a:t>AFROZA</a:t>
            </a:r>
          </a:p>
          <a:p>
            <a:pPr marL="742950" indent="-742950" algn="l">
              <a:buAutoNum type="arabicPeriod"/>
            </a:pPr>
            <a:r>
              <a:rPr lang="en-GB" sz="3600" b="1" dirty="0">
                <a:latin typeface="Amasis MT Pro Black" panose="02000000000000000000" pitchFamily="2" charset="0"/>
                <a:ea typeface="Amasis MT Pro Black" panose="02000000000000000000" pitchFamily="2" charset="0"/>
              </a:rPr>
              <a:t>Procedure(4-8), Result By- </a:t>
            </a:r>
            <a:r>
              <a:rPr lang="en-GB" sz="3600" b="1" dirty="0">
                <a:solidFill>
                  <a:schemeClr val="accent1"/>
                </a:solidFill>
                <a:latin typeface="Amasis MT Pro Black" panose="02000000000000000000" pitchFamily="2" charset="0"/>
                <a:ea typeface="Amasis MT Pro Black" panose="02000000000000000000" pitchFamily="2" charset="0"/>
              </a:rPr>
              <a:t>SIAM</a:t>
            </a:r>
          </a:p>
          <a:p>
            <a:pPr marL="742950" indent="-742950" algn="l">
              <a:buAutoNum type="arabicPeriod"/>
            </a:pPr>
            <a:r>
              <a:rPr lang="en-GB" sz="3600" b="1" dirty="0">
                <a:latin typeface="Amasis MT Pro Black" panose="02000000000000000000" pitchFamily="2" charset="0"/>
                <a:ea typeface="Amasis MT Pro Black" panose="02000000000000000000" pitchFamily="2" charset="0"/>
              </a:rPr>
              <a:t>Precautions and Discussion By- </a:t>
            </a:r>
            <a:r>
              <a:rPr lang="en-GB" sz="3600" b="1" dirty="0">
                <a:solidFill>
                  <a:schemeClr val="accent1"/>
                </a:solidFill>
                <a:latin typeface="Amasis MT Pro Black" panose="02000000000000000000" pitchFamily="2" charset="0"/>
                <a:ea typeface="Amasis MT Pro Black" panose="02000000000000000000" pitchFamily="2" charset="0"/>
              </a:rPr>
              <a:t>PROMA</a:t>
            </a:r>
          </a:p>
          <a:p>
            <a:pPr marL="742950" indent="-742950" algn="l">
              <a:buAutoNum type="arabicPeriod"/>
            </a:pPr>
            <a:endParaRPr lang="en-GB" sz="3600" b="1" dirty="0">
              <a:latin typeface="Amasis MT Pro Black" panose="02000000000000000000" pitchFamily="2" charset="0"/>
              <a:ea typeface="Amasis MT Pro Black" panose="02000000000000000000" pitchFamily="2" charset="0"/>
            </a:endParaRPr>
          </a:p>
          <a:p>
            <a:pPr marL="742950" indent="-742950" algn="l">
              <a:buAutoNum type="arabicPeriod"/>
            </a:pPr>
            <a:endParaRPr lang="en-GB" sz="3600" b="1" dirty="0">
              <a:latin typeface="Amasis MT Pro Black" panose="02000000000000000000" pitchFamily="2" charset="0"/>
              <a:ea typeface="Amasis MT Pro Black" panose="02000000000000000000" pitchFamily="2" charset="0"/>
            </a:endParaRPr>
          </a:p>
          <a:p>
            <a:pPr marL="742950" indent="-742950" algn="l">
              <a:buAutoNum type="arabicPeriod"/>
            </a:pPr>
            <a:endParaRPr lang="en-US" sz="3600" b="1" dirty="0">
              <a:latin typeface="Amasis MT Pro Black" panose="02000000000000000000" pitchFamily="2" charset="0"/>
              <a:ea typeface="Amasis MT Pro Black" panose="02000000000000000000" pitchFamily="2" charset="0"/>
            </a:endParaRPr>
          </a:p>
        </p:txBody>
      </p:sp>
    </p:spTree>
    <p:extLst>
      <p:ext uri="{BB962C8B-B14F-4D97-AF65-F5344CB8AC3E}">
        <p14:creationId xmlns:p14="http://schemas.microsoft.com/office/powerpoint/2010/main" val="2604331887"/>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DBA4C648-36A0-706E-9B17-056180242FEF}"/>
              </a:ext>
            </a:extLst>
          </p:cNvPr>
          <p:cNvSpPr>
            <a:spLocks noGrp="1"/>
          </p:cNvSpPr>
          <p:nvPr>
            <p:ph type="title"/>
          </p:nvPr>
        </p:nvSpPr>
        <p:spPr>
          <a:xfrm>
            <a:off x="1154954" y="973668"/>
            <a:ext cx="8761413" cy="706964"/>
          </a:xfrm>
        </p:spPr>
        <p:txBody>
          <a:bodyPr/>
          <a:lstStyle/>
          <a:p>
            <a:pPr algn="ctr"/>
            <a:r>
              <a:rPr lang="en-GB" sz="7200" b="1" i="1" dirty="0">
                <a:latin typeface="Algerian" pitchFamily="82" charset="0"/>
              </a:rPr>
              <a:t>CONTENTS</a:t>
            </a:r>
            <a:endParaRPr lang="en-US" sz="7200" b="1" i="1" dirty="0">
              <a:latin typeface="Algerian" pitchFamily="82" charset="0"/>
            </a:endParaRPr>
          </a:p>
        </p:txBody>
      </p:sp>
      <p:sp>
        <p:nvSpPr>
          <p:cNvPr id="6" name="TextBox 5">
            <a:extLst>
              <a:ext uri="{FF2B5EF4-FFF2-40B4-BE49-F238E27FC236}">
                <a16:creationId xmlns:a16="http://schemas.microsoft.com/office/drawing/2014/main" id="{5C313D0F-664D-7DBF-B26D-E6175C11D5F7}"/>
              </a:ext>
            </a:extLst>
          </p:cNvPr>
          <p:cNvSpPr txBox="1"/>
          <p:nvPr/>
        </p:nvSpPr>
        <p:spPr>
          <a:xfrm>
            <a:off x="886643" y="2429028"/>
            <a:ext cx="10726725" cy="707886"/>
          </a:xfrm>
          <a:prstGeom prst="rect">
            <a:avLst/>
          </a:prstGeom>
          <a:noFill/>
        </p:spPr>
        <p:txBody>
          <a:bodyPr wrap="square" rtlCol="0">
            <a:spAutoFit/>
          </a:bodyPr>
          <a:lstStyle/>
          <a:p>
            <a:pPr algn="l"/>
            <a:r>
              <a:rPr lang="en-GB" sz="4000" b="1" dirty="0">
                <a:latin typeface="Amasis MT Pro Black" panose="02000000000000000000" pitchFamily="2" charset="0"/>
                <a:ea typeface="Amasis MT Pro Black" panose="02000000000000000000" pitchFamily="2" charset="0"/>
              </a:rPr>
              <a:t>1. Learning Objective &amp; Outcomes</a:t>
            </a:r>
            <a:endParaRPr lang="en-US" sz="4000" b="1" dirty="0">
              <a:latin typeface="Amasis MT Pro Black" panose="02000000000000000000" pitchFamily="2" charset="0"/>
              <a:ea typeface="Amasis MT Pro Black" panose="02000000000000000000" pitchFamily="2" charset="0"/>
            </a:endParaRPr>
          </a:p>
        </p:txBody>
      </p:sp>
      <p:sp>
        <p:nvSpPr>
          <p:cNvPr id="9" name="TextBox 8">
            <a:extLst>
              <a:ext uri="{FF2B5EF4-FFF2-40B4-BE49-F238E27FC236}">
                <a16:creationId xmlns:a16="http://schemas.microsoft.com/office/drawing/2014/main" id="{28E0F8F6-1982-FAA9-4148-C0816DA733D9}"/>
              </a:ext>
            </a:extLst>
          </p:cNvPr>
          <p:cNvSpPr txBox="1"/>
          <p:nvPr/>
        </p:nvSpPr>
        <p:spPr>
          <a:xfrm>
            <a:off x="886642" y="3429000"/>
            <a:ext cx="7988417" cy="707886"/>
          </a:xfrm>
          <a:prstGeom prst="rect">
            <a:avLst/>
          </a:prstGeom>
          <a:noFill/>
        </p:spPr>
        <p:txBody>
          <a:bodyPr wrap="square" rtlCol="0">
            <a:spAutoFit/>
          </a:bodyPr>
          <a:lstStyle/>
          <a:p>
            <a:pPr algn="l"/>
            <a:r>
              <a:rPr lang="en-GB" sz="4000" b="1" dirty="0">
                <a:latin typeface="Amasis MT Pro Black" panose="02000000000000000000" pitchFamily="2" charset="0"/>
                <a:ea typeface="Amasis MT Pro Black" panose="02000000000000000000" pitchFamily="2" charset="0"/>
              </a:rPr>
              <a:t>2. THEORY</a:t>
            </a:r>
            <a:endParaRPr lang="en-US" sz="4000" b="1" dirty="0">
              <a:latin typeface="Amasis MT Pro Black" panose="02000000000000000000" pitchFamily="2" charset="0"/>
              <a:ea typeface="Amasis MT Pro Black" panose="02000000000000000000" pitchFamily="2" charset="0"/>
            </a:endParaRPr>
          </a:p>
        </p:txBody>
      </p:sp>
      <p:sp>
        <p:nvSpPr>
          <p:cNvPr id="11" name="TextBox 10">
            <a:extLst>
              <a:ext uri="{FF2B5EF4-FFF2-40B4-BE49-F238E27FC236}">
                <a16:creationId xmlns:a16="http://schemas.microsoft.com/office/drawing/2014/main" id="{CEC91234-D580-96B9-DEDC-D564025BE1B1}"/>
              </a:ext>
            </a:extLst>
          </p:cNvPr>
          <p:cNvSpPr txBox="1"/>
          <p:nvPr/>
        </p:nvSpPr>
        <p:spPr>
          <a:xfrm>
            <a:off x="886642" y="4287174"/>
            <a:ext cx="8721893" cy="707886"/>
          </a:xfrm>
          <a:prstGeom prst="rect">
            <a:avLst/>
          </a:prstGeom>
          <a:noFill/>
        </p:spPr>
        <p:txBody>
          <a:bodyPr wrap="square" rtlCol="0">
            <a:spAutoFit/>
          </a:bodyPr>
          <a:lstStyle/>
          <a:p>
            <a:pPr algn="l"/>
            <a:r>
              <a:rPr lang="en-GB" sz="4000" b="1" dirty="0">
                <a:latin typeface="Amasis MT Pro Black" panose="02000000000000000000" pitchFamily="2" charset="0"/>
                <a:ea typeface="Amasis MT Pro Black" panose="02000000000000000000" pitchFamily="2" charset="0"/>
              </a:rPr>
              <a:t>3. Apparatus &amp; PROCEDURES</a:t>
            </a:r>
            <a:endParaRPr lang="en-US" sz="4000" b="1" dirty="0">
              <a:latin typeface="Amasis MT Pro Black" panose="02000000000000000000" pitchFamily="2" charset="0"/>
              <a:ea typeface="Amasis MT Pro Black" panose="02000000000000000000" pitchFamily="2" charset="0"/>
            </a:endParaRPr>
          </a:p>
        </p:txBody>
      </p:sp>
      <p:sp>
        <p:nvSpPr>
          <p:cNvPr id="13" name="TextBox 12">
            <a:extLst>
              <a:ext uri="{FF2B5EF4-FFF2-40B4-BE49-F238E27FC236}">
                <a16:creationId xmlns:a16="http://schemas.microsoft.com/office/drawing/2014/main" id="{64B1C5FE-BC54-5549-C1C5-B5B036F48D3A}"/>
              </a:ext>
            </a:extLst>
          </p:cNvPr>
          <p:cNvSpPr txBox="1"/>
          <p:nvPr/>
        </p:nvSpPr>
        <p:spPr>
          <a:xfrm>
            <a:off x="886642" y="4995060"/>
            <a:ext cx="7658353" cy="717998"/>
          </a:xfrm>
          <a:prstGeom prst="rect">
            <a:avLst/>
          </a:prstGeom>
          <a:noFill/>
        </p:spPr>
        <p:txBody>
          <a:bodyPr wrap="square" rtlCol="0">
            <a:spAutoFit/>
          </a:bodyPr>
          <a:lstStyle/>
          <a:p>
            <a:pPr algn="l"/>
            <a:r>
              <a:rPr lang="en-GB" sz="4000" b="1" dirty="0">
                <a:latin typeface="Amasis MT Pro Black" panose="02000000000000000000" pitchFamily="2" charset="0"/>
                <a:ea typeface="Amasis MT Pro Black" panose="02000000000000000000" pitchFamily="2" charset="0"/>
              </a:rPr>
              <a:t>4. RESULTS</a:t>
            </a:r>
            <a:endParaRPr lang="en-US" sz="4000" b="1" dirty="0">
              <a:latin typeface="Amasis MT Pro Black" panose="02000000000000000000" pitchFamily="2" charset="0"/>
              <a:ea typeface="Amasis MT Pro Black" panose="02000000000000000000" pitchFamily="2" charset="0"/>
            </a:endParaRPr>
          </a:p>
        </p:txBody>
      </p:sp>
      <p:sp>
        <p:nvSpPr>
          <p:cNvPr id="15" name="TextBox 14">
            <a:extLst>
              <a:ext uri="{FF2B5EF4-FFF2-40B4-BE49-F238E27FC236}">
                <a16:creationId xmlns:a16="http://schemas.microsoft.com/office/drawing/2014/main" id="{FF67616B-F3CF-D114-74D9-0C1BC80F9A0C}"/>
              </a:ext>
            </a:extLst>
          </p:cNvPr>
          <p:cNvSpPr txBox="1"/>
          <p:nvPr/>
        </p:nvSpPr>
        <p:spPr>
          <a:xfrm>
            <a:off x="886642" y="5713058"/>
            <a:ext cx="10726725" cy="707886"/>
          </a:xfrm>
          <a:prstGeom prst="rect">
            <a:avLst/>
          </a:prstGeom>
          <a:noFill/>
        </p:spPr>
        <p:txBody>
          <a:bodyPr wrap="square" rtlCol="0">
            <a:spAutoFit/>
          </a:bodyPr>
          <a:lstStyle/>
          <a:p>
            <a:pPr algn="l"/>
            <a:r>
              <a:rPr lang="en-GB" sz="4000" b="1" dirty="0">
                <a:latin typeface="Amasis MT Pro Black" panose="02000000000000000000" pitchFamily="2" charset="0"/>
                <a:ea typeface="Amasis MT Pro Black" panose="02000000000000000000" pitchFamily="2" charset="0"/>
              </a:rPr>
              <a:t>5. PRECAUTIONS &amp; DISCUSSIONS</a:t>
            </a:r>
            <a:endParaRPr lang="en-US" sz="4000" b="1" dirty="0">
              <a:latin typeface="Amasis MT Pro Black" panose="02000000000000000000" pitchFamily="2" charset="0"/>
              <a:ea typeface="Amasis MT Pro Black" panose="02000000000000000000" pitchFamily="2" charset="0"/>
            </a:endParaRPr>
          </a:p>
        </p:txBody>
      </p:sp>
    </p:spTree>
    <p:extLst>
      <p:ext uri="{BB962C8B-B14F-4D97-AF65-F5344CB8AC3E}">
        <p14:creationId xmlns:p14="http://schemas.microsoft.com/office/powerpoint/2010/main" val="350288857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1FD66-6298-915E-C44C-A05439A7F553}"/>
              </a:ext>
            </a:extLst>
          </p:cNvPr>
          <p:cNvSpPr>
            <a:spLocks noGrp="1"/>
          </p:cNvSpPr>
          <p:nvPr>
            <p:ph type="title"/>
          </p:nvPr>
        </p:nvSpPr>
        <p:spPr>
          <a:xfrm rot="10800000" flipV="1">
            <a:off x="739318" y="-727364"/>
            <a:ext cx="9716062" cy="4156364"/>
          </a:xfrm>
        </p:spPr>
        <p:txBody>
          <a:bodyPr/>
          <a:lstStyle/>
          <a:p>
            <a:pPr algn="ctr"/>
            <a:r>
              <a:rPr lang="en-GB" sz="4800" b="1" dirty="0">
                <a:latin typeface="Amasis MT Pro Black" panose="02000000000000000000" pitchFamily="2" charset="0"/>
                <a:ea typeface="Amasis MT Pro Black" panose="02000000000000000000" pitchFamily="2" charset="0"/>
              </a:rPr>
              <a:t>NAME OF THE EXPERIMENT</a:t>
            </a:r>
            <a:endParaRPr lang="en-US" sz="4800" b="1" dirty="0">
              <a:latin typeface="Amasis MT Pro Black" panose="02000000000000000000" pitchFamily="2" charset="0"/>
              <a:ea typeface="Amasis MT Pro Black" panose="02000000000000000000" pitchFamily="2" charset="0"/>
            </a:endParaRPr>
          </a:p>
        </p:txBody>
      </p:sp>
      <p:sp>
        <p:nvSpPr>
          <p:cNvPr id="6" name="TextBox 5">
            <a:extLst>
              <a:ext uri="{FF2B5EF4-FFF2-40B4-BE49-F238E27FC236}">
                <a16:creationId xmlns:a16="http://schemas.microsoft.com/office/drawing/2014/main" id="{AF50AFD5-0E71-09AD-6CDA-24C03C05D261}"/>
              </a:ext>
            </a:extLst>
          </p:cNvPr>
          <p:cNvSpPr txBox="1"/>
          <p:nvPr/>
        </p:nvSpPr>
        <p:spPr>
          <a:xfrm>
            <a:off x="5179562" y="2147862"/>
            <a:ext cx="1828800" cy="1828800"/>
          </a:xfrm>
          <a:prstGeom prst="rect">
            <a:avLst/>
          </a:prstGeom>
          <a:noFill/>
        </p:spPr>
        <p:txBody>
          <a:bodyPr wrap="square" rtlCol="0">
            <a:spAutoFit/>
          </a:bodyPr>
          <a:lstStyle/>
          <a:p>
            <a:pPr algn="l"/>
            <a:endParaRPr lang="en-US" dirty="0"/>
          </a:p>
        </p:txBody>
      </p:sp>
      <p:sp>
        <p:nvSpPr>
          <p:cNvPr id="7" name="TextBox 6">
            <a:extLst>
              <a:ext uri="{FF2B5EF4-FFF2-40B4-BE49-F238E27FC236}">
                <a16:creationId xmlns:a16="http://schemas.microsoft.com/office/drawing/2014/main" id="{7394FE59-A469-5840-DA21-F0E041A3E6A6}"/>
              </a:ext>
            </a:extLst>
          </p:cNvPr>
          <p:cNvSpPr txBox="1"/>
          <p:nvPr/>
        </p:nvSpPr>
        <p:spPr>
          <a:xfrm>
            <a:off x="1183411" y="2945610"/>
            <a:ext cx="6473197" cy="2062103"/>
          </a:xfrm>
          <a:prstGeom prst="rect">
            <a:avLst/>
          </a:prstGeom>
          <a:noFill/>
        </p:spPr>
        <p:txBody>
          <a:bodyPr wrap="square" rtlCol="0">
            <a:spAutoFit/>
          </a:bodyPr>
          <a:lstStyle/>
          <a:p>
            <a:pPr algn="l"/>
            <a:r>
              <a:rPr lang="en-GB" sz="3200" b="1" dirty="0">
                <a:latin typeface="Amasis MT Pro Black" panose="02000000000000000000" pitchFamily="2" charset="0"/>
                <a:ea typeface="Amasis MT Pro Black" panose="02000000000000000000" pitchFamily="2" charset="0"/>
              </a:rPr>
              <a:t>To determine the Thickness and radius of curvature of a Spherical surface with a </a:t>
            </a:r>
            <a:r>
              <a:rPr lang="en-GB" sz="3200" b="1" dirty="0" err="1">
                <a:latin typeface="Amasis MT Pro Black" panose="02000000000000000000" pitchFamily="2" charset="0"/>
                <a:ea typeface="Amasis MT Pro Black" panose="02000000000000000000" pitchFamily="2" charset="0"/>
              </a:rPr>
              <a:t>Spherometer</a:t>
            </a:r>
            <a:r>
              <a:rPr lang="en-GB" sz="3200" b="1" dirty="0">
                <a:latin typeface="Amasis MT Pro Black" panose="02000000000000000000" pitchFamily="2" charset="0"/>
                <a:ea typeface="Amasis MT Pro Black" panose="02000000000000000000" pitchFamily="2" charset="0"/>
              </a:rPr>
              <a:t>.</a:t>
            </a:r>
            <a:endParaRPr lang="en-US" sz="3200" b="1" dirty="0">
              <a:latin typeface="Amasis MT Pro Black" panose="02000000000000000000" pitchFamily="2" charset="0"/>
              <a:ea typeface="Amasis MT Pro Black" panose="02000000000000000000" pitchFamily="2" charset="0"/>
            </a:endParaRPr>
          </a:p>
        </p:txBody>
      </p:sp>
      <p:pic>
        <p:nvPicPr>
          <p:cNvPr id="3" name="Picture 2">
            <a:extLst>
              <a:ext uri="{FF2B5EF4-FFF2-40B4-BE49-F238E27FC236}">
                <a16:creationId xmlns:a16="http://schemas.microsoft.com/office/drawing/2014/main" id="{80CC48FF-45D5-9277-9231-6B2A114DF78D}"/>
              </a:ext>
            </a:extLst>
          </p:cNvPr>
          <p:cNvPicPr>
            <a:picLocks noChangeAspect="1"/>
          </p:cNvPicPr>
          <p:nvPr/>
        </p:nvPicPr>
        <p:blipFill>
          <a:blip r:embed="rId2"/>
          <a:stretch>
            <a:fillRect/>
          </a:stretch>
        </p:blipFill>
        <p:spPr>
          <a:xfrm>
            <a:off x="7656608" y="2276438"/>
            <a:ext cx="3996151" cy="3856647"/>
          </a:xfrm>
          <a:prstGeom prst="rect">
            <a:avLst/>
          </a:prstGeom>
        </p:spPr>
      </p:pic>
    </p:spTree>
    <p:extLst>
      <p:ext uri="{BB962C8B-B14F-4D97-AF65-F5344CB8AC3E}">
        <p14:creationId xmlns:p14="http://schemas.microsoft.com/office/powerpoint/2010/main" val="322742901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0B3CC5-0DC3-DE30-AD46-876E79BBD793}"/>
              </a:ext>
            </a:extLst>
          </p:cNvPr>
          <p:cNvPicPr>
            <a:picLocks noChangeAspect="1"/>
          </p:cNvPicPr>
          <p:nvPr/>
        </p:nvPicPr>
        <p:blipFill>
          <a:blip r:embed="rId2"/>
          <a:srcRect/>
          <a:stretch/>
        </p:blipFill>
        <p:spPr>
          <a:xfrm>
            <a:off x="0" y="0"/>
            <a:ext cx="12192000" cy="6858000"/>
          </a:xfrm>
          <a:prstGeom prst="rect">
            <a:avLst/>
          </a:prstGeom>
        </p:spPr>
      </p:pic>
    </p:spTree>
    <p:extLst>
      <p:ext uri="{BB962C8B-B14F-4D97-AF65-F5344CB8AC3E}">
        <p14:creationId xmlns:p14="http://schemas.microsoft.com/office/powerpoint/2010/main" val="2605362635"/>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DFD31B2-FC25-485F-BD9B-89835B794E6A}"/>
              </a:ext>
            </a:extLst>
          </p:cNvPr>
          <p:cNvSpPr>
            <a:spLocks noGrp="1"/>
          </p:cNvSpPr>
          <p:nvPr>
            <p:ph type="title"/>
          </p:nvPr>
        </p:nvSpPr>
        <p:spPr/>
        <p:txBody>
          <a:bodyPr/>
          <a:lstStyle/>
          <a:p>
            <a:pPr algn="ctr"/>
            <a:r>
              <a:rPr lang="en-GB" sz="5400" b="1" i="1" dirty="0">
                <a:latin typeface="Algerian" pitchFamily="82" charset="0"/>
              </a:rPr>
              <a:t>Objective</a:t>
            </a:r>
            <a:endParaRPr lang="en-US" sz="5400" b="1" i="1" dirty="0">
              <a:latin typeface="Algerian" pitchFamily="82" charset="0"/>
            </a:endParaRPr>
          </a:p>
        </p:txBody>
      </p:sp>
      <p:sp>
        <p:nvSpPr>
          <p:cNvPr id="5" name="TextBox 4">
            <a:extLst>
              <a:ext uri="{FF2B5EF4-FFF2-40B4-BE49-F238E27FC236}">
                <a16:creationId xmlns:a16="http://schemas.microsoft.com/office/drawing/2014/main" id="{F32FCD5F-A981-7FCB-6B6C-3E32266D2480}"/>
              </a:ext>
            </a:extLst>
          </p:cNvPr>
          <p:cNvSpPr txBox="1"/>
          <p:nvPr/>
        </p:nvSpPr>
        <p:spPr>
          <a:xfrm>
            <a:off x="5179562" y="2502375"/>
            <a:ext cx="1828800" cy="1828800"/>
          </a:xfrm>
          <a:prstGeom prst="rect">
            <a:avLst/>
          </a:prstGeom>
          <a:noFill/>
        </p:spPr>
        <p:txBody>
          <a:bodyPr wrap="square" rtlCol="0">
            <a:spAutoFit/>
          </a:bodyPr>
          <a:lstStyle/>
          <a:p>
            <a:pPr algn="l"/>
            <a:endParaRPr lang="en-US" dirty="0"/>
          </a:p>
        </p:txBody>
      </p:sp>
      <p:sp>
        <p:nvSpPr>
          <p:cNvPr id="6" name="TextBox 5">
            <a:extLst>
              <a:ext uri="{FF2B5EF4-FFF2-40B4-BE49-F238E27FC236}">
                <a16:creationId xmlns:a16="http://schemas.microsoft.com/office/drawing/2014/main" id="{B893D2AA-61CA-5614-2EC7-D95B65A06A7E}"/>
              </a:ext>
            </a:extLst>
          </p:cNvPr>
          <p:cNvSpPr txBox="1"/>
          <p:nvPr/>
        </p:nvSpPr>
        <p:spPr>
          <a:xfrm>
            <a:off x="711221" y="2668620"/>
            <a:ext cx="6236961" cy="2062103"/>
          </a:xfrm>
          <a:prstGeom prst="rect">
            <a:avLst/>
          </a:prstGeom>
          <a:noFill/>
        </p:spPr>
        <p:txBody>
          <a:bodyPr wrap="square" rtlCol="0">
            <a:spAutoFit/>
          </a:bodyPr>
          <a:lstStyle/>
          <a:p>
            <a:pPr algn="l"/>
            <a:r>
              <a:rPr lang="en-GB" sz="3200" b="1" i="1" dirty="0">
                <a:latin typeface="Aptos ExtraBold" panose="02000000000000000000" pitchFamily="2" charset="0"/>
                <a:ea typeface="Aptos ExtraBold" panose="02000000000000000000" pitchFamily="2" charset="0"/>
              </a:rPr>
              <a:t>How to use a </a:t>
            </a:r>
            <a:r>
              <a:rPr lang="en-GB" sz="3200" b="1" i="1" dirty="0" err="1">
                <a:latin typeface="Aptos ExtraBold" panose="02000000000000000000" pitchFamily="2" charset="0"/>
                <a:ea typeface="Aptos ExtraBold" panose="02000000000000000000" pitchFamily="2" charset="0"/>
              </a:rPr>
              <a:t>spherometer</a:t>
            </a:r>
            <a:r>
              <a:rPr lang="en-GB" sz="3200" b="1" i="1" dirty="0">
                <a:latin typeface="Aptos ExtraBold" panose="02000000000000000000" pitchFamily="2" charset="0"/>
                <a:ea typeface="Aptos ExtraBold" panose="02000000000000000000" pitchFamily="2" charset="0"/>
              </a:rPr>
              <a:t> to determine the thickness and radius of Curvature of a spherical surface.</a:t>
            </a:r>
            <a:endParaRPr lang="en-US" sz="3200" b="1" i="1" dirty="0">
              <a:latin typeface="Aptos ExtraBold" panose="02000000000000000000" pitchFamily="2" charset="0"/>
              <a:ea typeface="Aptos ExtraBold" panose="02000000000000000000" pitchFamily="2" charset="0"/>
            </a:endParaRPr>
          </a:p>
        </p:txBody>
      </p:sp>
      <p:pic>
        <p:nvPicPr>
          <p:cNvPr id="8" name="Picture 7">
            <a:extLst>
              <a:ext uri="{FF2B5EF4-FFF2-40B4-BE49-F238E27FC236}">
                <a16:creationId xmlns:a16="http://schemas.microsoft.com/office/drawing/2014/main" id="{742C4C09-AA6B-3C18-026A-7FB31349868B}"/>
              </a:ext>
            </a:extLst>
          </p:cNvPr>
          <p:cNvPicPr>
            <a:picLocks noChangeAspect="1"/>
          </p:cNvPicPr>
          <p:nvPr/>
        </p:nvPicPr>
        <p:blipFill>
          <a:blip r:embed="rId2"/>
          <a:srcRect/>
          <a:stretch/>
        </p:blipFill>
        <p:spPr>
          <a:xfrm>
            <a:off x="6239154" y="2668423"/>
            <a:ext cx="5734753" cy="3565925"/>
          </a:xfrm>
          <a:prstGeom prst="rect">
            <a:avLst/>
          </a:prstGeom>
        </p:spPr>
      </p:pic>
    </p:spTree>
    <p:extLst>
      <p:ext uri="{BB962C8B-B14F-4D97-AF65-F5344CB8AC3E}">
        <p14:creationId xmlns:p14="http://schemas.microsoft.com/office/powerpoint/2010/main" val="107323453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331CD-7CC0-2A24-7A68-25AF1440FC75}"/>
              </a:ext>
            </a:extLst>
          </p:cNvPr>
          <p:cNvSpPr>
            <a:spLocks noGrp="1"/>
          </p:cNvSpPr>
          <p:nvPr>
            <p:ph type="title"/>
          </p:nvPr>
        </p:nvSpPr>
        <p:spPr/>
        <p:txBody>
          <a:bodyPr/>
          <a:lstStyle/>
          <a:p>
            <a:pPr algn="ctr"/>
            <a:r>
              <a:rPr lang="en-GB" sz="4800" b="1" i="1" dirty="0">
                <a:latin typeface="Algerian" pitchFamily="82" charset="0"/>
              </a:rPr>
              <a:t>Learning outcomes</a:t>
            </a:r>
            <a:endParaRPr lang="en-US" sz="4800" b="1" i="1" dirty="0">
              <a:latin typeface="Algerian" pitchFamily="82" charset="0"/>
            </a:endParaRPr>
          </a:p>
        </p:txBody>
      </p:sp>
      <p:sp>
        <p:nvSpPr>
          <p:cNvPr id="3" name="TextBox 2">
            <a:extLst>
              <a:ext uri="{FF2B5EF4-FFF2-40B4-BE49-F238E27FC236}">
                <a16:creationId xmlns:a16="http://schemas.microsoft.com/office/drawing/2014/main" id="{6EFE3B60-CFB9-4D4B-8280-1720A34F5839}"/>
              </a:ext>
            </a:extLst>
          </p:cNvPr>
          <p:cNvSpPr txBox="1"/>
          <p:nvPr/>
        </p:nvSpPr>
        <p:spPr>
          <a:xfrm>
            <a:off x="5179562" y="2502375"/>
            <a:ext cx="1828800" cy="1828800"/>
          </a:xfrm>
          <a:prstGeom prst="rect">
            <a:avLst/>
          </a:prstGeom>
          <a:noFill/>
        </p:spPr>
        <p:txBody>
          <a:bodyPr wrap="square" rtlCol="0">
            <a:spAutoFit/>
          </a:bodyPr>
          <a:lstStyle/>
          <a:p>
            <a:pPr algn="l"/>
            <a:endParaRPr lang="en-US" dirty="0"/>
          </a:p>
        </p:txBody>
      </p:sp>
      <p:sp>
        <p:nvSpPr>
          <p:cNvPr id="4" name="TextBox 3">
            <a:extLst>
              <a:ext uri="{FF2B5EF4-FFF2-40B4-BE49-F238E27FC236}">
                <a16:creationId xmlns:a16="http://schemas.microsoft.com/office/drawing/2014/main" id="{05461414-AAC0-351A-A9D8-02C97E02A514}"/>
              </a:ext>
            </a:extLst>
          </p:cNvPr>
          <p:cNvSpPr txBox="1"/>
          <p:nvPr/>
        </p:nvSpPr>
        <p:spPr>
          <a:xfrm>
            <a:off x="797654" y="2755622"/>
            <a:ext cx="6210708" cy="2123658"/>
          </a:xfrm>
          <a:prstGeom prst="rect">
            <a:avLst/>
          </a:prstGeom>
          <a:noFill/>
        </p:spPr>
        <p:txBody>
          <a:bodyPr wrap="square" rtlCol="0">
            <a:spAutoFit/>
          </a:bodyPr>
          <a:lstStyle/>
          <a:p>
            <a:pPr algn="l"/>
            <a:r>
              <a:rPr lang="en-GB" sz="3200" b="1" dirty="0"/>
              <a:t>Students will be able to know</a:t>
            </a:r>
          </a:p>
          <a:p>
            <a:pPr algn="l"/>
            <a:endParaRPr lang="en-GB" sz="2000" b="1" dirty="0"/>
          </a:p>
          <a:p>
            <a:pPr marL="914400" lvl="1" indent="-457200">
              <a:buFont typeface="+mj-lt"/>
              <a:buAutoNum type="arabicPeriod"/>
            </a:pPr>
            <a:r>
              <a:rPr lang="en-GB" sz="2000" b="1" i="1" dirty="0"/>
              <a:t>How a </a:t>
            </a:r>
            <a:r>
              <a:rPr lang="en-GB" sz="2000" b="1" i="1" dirty="0" err="1"/>
              <a:t>spherometer</a:t>
            </a:r>
            <a:r>
              <a:rPr lang="en-GB" sz="2000" b="1" i="1" dirty="0"/>
              <a:t> can be used and for what purpose.</a:t>
            </a:r>
          </a:p>
          <a:p>
            <a:pPr marL="914400" lvl="1" indent="-457200">
              <a:buFont typeface="+mj-lt"/>
              <a:buAutoNum type="arabicPeriod"/>
            </a:pPr>
            <a:r>
              <a:rPr lang="en-GB" sz="2000" b="1" i="1" dirty="0"/>
              <a:t>How the thickness of a spherical surface is calculated.</a:t>
            </a:r>
            <a:endParaRPr lang="en-US" sz="2000" b="1" i="1" dirty="0"/>
          </a:p>
        </p:txBody>
      </p:sp>
      <p:pic>
        <p:nvPicPr>
          <p:cNvPr id="5" name="Picture 4">
            <a:extLst>
              <a:ext uri="{FF2B5EF4-FFF2-40B4-BE49-F238E27FC236}">
                <a16:creationId xmlns:a16="http://schemas.microsoft.com/office/drawing/2014/main" id="{29ED8A06-3CA3-B7DC-F4A0-A077E782E419}"/>
              </a:ext>
            </a:extLst>
          </p:cNvPr>
          <p:cNvPicPr>
            <a:picLocks noChangeAspect="1"/>
          </p:cNvPicPr>
          <p:nvPr/>
        </p:nvPicPr>
        <p:blipFill>
          <a:blip r:embed="rId2"/>
          <a:srcRect/>
          <a:stretch/>
        </p:blipFill>
        <p:spPr>
          <a:xfrm>
            <a:off x="7008362" y="2502375"/>
            <a:ext cx="3721126" cy="3942324"/>
          </a:xfrm>
          <a:prstGeom prst="rect">
            <a:avLst/>
          </a:prstGeom>
        </p:spPr>
      </p:pic>
    </p:spTree>
    <p:extLst>
      <p:ext uri="{BB962C8B-B14F-4D97-AF65-F5344CB8AC3E}">
        <p14:creationId xmlns:p14="http://schemas.microsoft.com/office/powerpoint/2010/main" val="1718294554"/>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28817E-09D9-BE4D-5821-7B92BDDAAAC2}"/>
              </a:ext>
            </a:extLst>
          </p:cNvPr>
          <p:cNvPicPr>
            <a:picLocks noChangeAspect="1"/>
          </p:cNvPicPr>
          <p:nvPr/>
        </p:nvPicPr>
        <p:blipFill>
          <a:blip r:embed="rId2"/>
          <a:stretch>
            <a:fillRect/>
          </a:stretch>
        </p:blipFill>
        <p:spPr>
          <a:xfrm>
            <a:off x="0" y="0"/>
            <a:ext cx="12225130" cy="6858000"/>
          </a:xfrm>
          <a:prstGeom prst="rect">
            <a:avLst/>
          </a:prstGeom>
        </p:spPr>
      </p:pic>
    </p:spTree>
    <p:extLst>
      <p:ext uri="{BB962C8B-B14F-4D97-AF65-F5344CB8AC3E}">
        <p14:creationId xmlns:p14="http://schemas.microsoft.com/office/powerpoint/2010/main" val="1064818617"/>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FE7CD-68B6-DF84-1935-B73FC241A729}"/>
              </a:ext>
            </a:extLst>
          </p:cNvPr>
          <p:cNvSpPr>
            <a:spLocks noGrp="1"/>
          </p:cNvSpPr>
          <p:nvPr>
            <p:ph type="title"/>
          </p:nvPr>
        </p:nvSpPr>
        <p:spPr>
          <a:xfrm>
            <a:off x="4958646" y="844312"/>
            <a:ext cx="4050882" cy="1081005"/>
          </a:xfrm>
        </p:spPr>
        <p:txBody>
          <a:bodyPr/>
          <a:lstStyle/>
          <a:p>
            <a:r>
              <a:rPr lang="en-GB" sz="4000" b="1" i="1" dirty="0">
                <a:latin typeface="Algerian" pitchFamily="82" charset="0"/>
              </a:rPr>
              <a:t>Theory</a:t>
            </a:r>
            <a:endParaRPr lang="en-US" sz="4000" b="1" i="1" dirty="0">
              <a:latin typeface="Algerian" pitchFamily="82" charset="0"/>
            </a:endParaRPr>
          </a:p>
        </p:txBody>
      </p:sp>
      <p:pic>
        <p:nvPicPr>
          <p:cNvPr id="4" name="Content Placeholder 3">
            <a:extLst>
              <a:ext uri="{FF2B5EF4-FFF2-40B4-BE49-F238E27FC236}">
                <a16:creationId xmlns:a16="http://schemas.microsoft.com/office/drawing/2014/main" id="{DD9FF22A-4BA2-6EC8-2957-28A0DAAC4B2E}"/>
              </a:ext>
            </a:extLst>
          </p:cNvPr>
          <p:cNvPicPr>
            <a:picLocks noGrp="1" noChangeAspect="1"/>
          </p:cNvPicPr>
          <p:nvPr>
            <p:ph idx="1"/>
          </p:nvPr>
        </p:nvPicPr>
        <p:blipFill>
          <a:blip r:embed="rId2"/>
          <a:srcRect/>
          <a:stretch/>
        </p:blipFill>
        <p:spPr>
          <a:xfrm>
            <a:off x="7688090" y="2292757"/>
            <a:ext cx="3375172" cy="4214768"/>
          </a:xfrm>
        </p:spPr>
      </p:pic>
      <p:sp>
        <p:nvSpPr>
          <p:cNvPr id="5" name="TextBox 4">
            <a:extLst>
              <a:ext uri="{FF2B5EF4-FFF2-40B4-BE49-F238E27FC236}">
                <a16:creationId xmlns:a16="http://schemas.microsoft.com/office/drawing/2014/main" id="{7D57A5FE-3799-40F5-4182-44B55D4BB4B9}"/>
              </a:ext>
            </a:extLst>
          </p:cNvPr>
          <p:cNvSpPr txBox="1"/>
          <p:nvPr/>
        </p:nvSpPr>
        <p:spPr>
          <a:xfrm>
            <a:off x="520933" y="2355982"/>
            <a:ext cx="7362751" cy="1384995"/>
          </a:xfrm>
          <a:prstGeom prst="rect">
            <a:avLst/>
          </a:prstGeom>
          <a:noFill/>
        </p:spPr>
        <p:txBody>
          <a:bodyPr wrap="square" rtlCol="0">
            <a:spAutoFit/>
          </a:bodyPr>
          <a:lstStyle/>
          <a:p>
            <a:pPr algn="l"/>
            <a:r>
              <a:rPr lang="en-GB" sz="2800" b="1" dirty="0" err="1"/>
              <a:t>Spherometer</a:t>
            </a:r>
            <a:r>
              <a:rPr lang="en-GB" sz="2800" b="1" dirty="0"/>
              <a:t> is a measuring device that works on the principle of micrometre screw. </a:t>
            </a:r>
            <a:endParaRPr lang="en-US" sz="2800" b="1" dirty="0"/>
          </a:p>
        </p:txBody>
      </p:sp>
      <p:sp>
        <p:nvSpPr>
          <p:cNvPr id="6" name="TextBox 5">
            <a:extLst>
              <a:ext uri="{FF2B5EF4-FFF2-40B4-BE49-F238E27FC236}">
                <a16:creationId xmlns:a16="http://schemas.microsoft.com/office/drawing/2014/main" id="{91601F02-E6DE-4C9C-6951-45AF1E1BC5A8}"/>
              </a:ext>
            </a:extLst>
          </p:cNvPr>
          <p:cNvSpPr txBox="1"/>
          <p:nvPr/>
        </p:nvSpPr>
        <p:spPr>
          <a:xfrm>
            <a:off x="520933" y="3848897"/>
            <a:ext cx="6716030" cy="1938992"/>
          </a:xfrm>
          <a:prstGeom prst="rect">
            <a:avLst/>
          </a:prstGeom>
          <a:noFill/>
        </p:spPr>
        <p:txBody>
          <a:bodyPr wrap="square" rtlCol="0">
            <a:spAutoFit/>
          </a:bodyPr>
          <a:lstStyle/>
          <a:p>
            <a:pPr algn="l"/>
            <a:r>
              <a:rPr lang="en-GB" sz="2400" dirty="0"/>
              <a:t>It has a metallic triangular frame supported on three legs. The tips of the three legs form an equilateral triangle and lie on the radius. There is a central leg which can be moved in a perpendicular direction. </a:t>
            </a:r>
            <a:endParaRPr lang="en-US" sz="2400" dirty="0"/>
          </a:p>
        </p:txBody>
      </p:sp>
    </p:spTree>
    <p:extLst>
      <p:ext uri="{BB962C8B-B14F-4D97-AF65-F5344CB8AC3E}">
        <p14:creationId xmlns:p14="http://schemas.microsoft.com/office/powerpoint/2010/main" val="418352141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87FD6626-6E00-BB89-FD91-CD29CD2F8CBB}"/>
              </a:ext>
            </a:extLst>
          </p:cNvPr>
          <p:cNvSpPr>
            <a:spLocks noGrp="1"/>
          </p:cNvSpPr>
          <p:nvPr>
            <p:ph type="title"/>
          </p:nvPr>
        </p:nvSpPr>
        <p:spPr>
          <a:xfrm>
            <a:off x="4958646" y="844312"/>
            <a:ext cx="4050882" cy="1081005"/>
          </a:xfrm>
        </p:spPr>
        <p:txBody>
          <a:bodyPr/>
          <a:lstStyle/>
          <a:p>
            <a:r>
              <a:rPr lang="en-GB" sz="4000" b="1" i="1" dirty="0">
                <a:latin typeface="Algerian" pitchFamily="82" charset="0"/>
              </a:rPr>
              <a:t>Theory</a:t>
            </a:r>
            <a:endParaRPr lang="en-US" sz="4000" b="1" i="1" dirty="0">
              <a:latin typeface="Algerian" pitchFamily="82" charset="0"/>
            </a:endParaRPr>
          </a:p>
        </p:txBody>
      </p:sp>
      <p:sp>
        <p:nvSpPr>
          <p:cNvPr id="11" name="TextBox 10">
            <a:extLst>
              <a:ext uri="{FF2B5EF4-FFF2-40B4-BE49-F238E27FC236}">
                <a16:creationId xmlns:a16="http://schemas.microsoft.com/office/drawing/2014/main" id="{281EA595-0434-EA1C-FBCD-BCE3762850E0}"/>
              </a:ext>
            </a:extLst>
          </p:cNvPr>
          <p:cNvSpPr txBox="1"/>
          <p:nvPr/>
        </p:nvSpPr>
        <p:spPr>
          <a:xfrm>
            <a:off x="678532" y="2912304"/>
            <a:ext cx="6735455" cy="1815882"/>
          </a:xfrm>
          <a:prstGeom prst="rect">
            <a:avLst/>
          </a:prstGeom>
          <a:noFill/>
        </p:spPr>
        <p:txBody>
          <a:bodyPr wrap="square" rtlCol="0">
            <a:spAutoFit/>
          </a:bodyPr>
          <a:lstStyle/>
          <a:p>
            <a:pPr algn="l"/>
            <a:r>
              <a:rPr lang="en-GB" sz="2800" dirty="0"/>
              <a:t>It is used to measure either very small thickness or the radius of curvature of a spherical surface that is why it is called a </a:t>
            </a:r>
            <a:r>
              <a:rPr lang="en-GB" sz="2800" dirty="0" err="1"/>
              <a:t>spherometer</a:t>
            </a:r>
            <a:r>
              <a:rPr lang="en-GB" sz="2800" b="1" dirty="0"/>
              <a:t>.</a:t>
            </a:r>
            <a:endParaRPr lang="en-US" sz="2800" b="1" dirty="0"/>
          </a:p>
        </p:txBody>
      </p:sp>
      <p:pic>
        <p:nvPicPr>
          <p:cNvPr id="13" name="Content Placeholder 3">
            <a:extLst>
              <a:ext uri="{FF2B5EF4-FFF2-40B4-BE49-F238E27FC236}">
                <a16:creationId xmlns:a16="http://schemas.microsoft.com/office/drawing/2014/main" id="{877E6E61-56F1-959F-F79C-E64B2720272E}"/>
              </a:ext>
            </a:extLst>
          </p:cNvPr>
          <p:cNvPicPr>
            <a:picLocks noGrp="1" noChangeAspect="1"/>
          </p:cNvPicPr>
          <p:nvPr>
            <p:ph idx="1"/>
          </p:nvPr>
        </p:nvPicPr>
        <p:blipFill>
          <a:blip r:embed="rId2"/>
          <a:srcRect/>
          <a:stretch/>
        </p:blipFill>
        <p:spPr>
          <a:xfrm>
            <a:off x="7413988" y="2292757"/>
            <a:ext cx="3258088" cy="4068559"/>
          </a:xfrm>
        </p:spPr>
      </p:pic>
    </p:spTree>
    <p:extLst>
      <p:ext uri="{BB962C8B-B14F-4D97-AF65-F5344CB8AC3E}">
        <p14:creationId xmlns:p14="http://schemas.microsoft.com/office/powerpoint/2010/main" val="2144908509"/>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CBA0DFD-1D50-BD80-5558-FAE86481F504}"/>
              </a:ext>
            </a:extLst>
          </p:cNvPr>
          <p:cNvSpPr>
            <a:spLocks noGrp="1"/>
          </p:cNvSpPr>
          <p:nvPr>
            <p:ph type="title"/>
          </p:nvPr>
        </p:nvSpPr>
        <p:spPr>
          <a:xfrm>
            <a:off x="4958646" y="844312"/>
            <a:ext cx="4050882" cy="1081005"/>
          </a:xfrm>
        </p:spPr>
        <p:txBody>
          <a:bodyPr/>
          <a:lstStyle/>
          <a:p>
            <a:r>
              <a:rPr lang="en-GB" sz="4000" b="1" i="1" dirty="0">
                <a:latin typeface="Algerian" pitchFamily="82" charset="0"/>
              </a:rPr>
              <a:t>Theory</a:t>
            </a:r>
            <a:endParaRPr lang="en-US" sz="4000" b="1" i="1" dirty="0">
              <a:latin typeface="Algerian" pitchFamily="82" charset="0"/>
            </a:endParaRPr>
          </a:p>
        </p:txBody>
      </p:sp>
      <p:sp>
        <p:nvSpPr>
          <p:cNvPr id="7" name="TextBox 6">
            <a:extLst>
              <a:ext uri="{FF2B5EF4-FFF2-40B4-BE49-F238E27FC236}">
                <a16:creationId xmlns:a16="http://schemas.microsoft.com/office/drawing/2014/main" id="{87D0B925-B88B-A732-79FC-2BD8A5064A95}"/>
              </a:ext>
            </a:extLst>
          </p:cNvPr>
          <p:cNvSpPr txBox="1"/>
          <p:nvPr/>
        </p:nvSpPr>
        <p:spPr>
          <a:xfrm>
            <a:off x="520933" y="2355982"/>
            <a:ext cx="7362751" cy="1384995"/>
          </a:xfrm>
          <a:prstGeom prst="rect">
            <a:avLst/>
          </a:prstGeom>
          <a:noFill/>
        </p:spPr>
        <p:txBody>
          <a:bodyPr wrap="square" rtlCol="0">
            <a:spAutoFit/>
          </a:bodyPr>
          <a:lstStyle/>
          <a:p>
            <a:pPr algn="l"/>
            <a:r>
              <a:rPr lang="en-GB" sz="2800" b="1" dirty="0"/>
              <a:t>Now, thickness of the glass plate by a </a:t>
            </a:r>
            <a:r>
              <a:rPr lang="en-GB" sz="2800" b="1" dirty="0" err="1"/>
              <a:t>spherometer</a:t>
            </a:r>
            <a:r>
              <a:rPr lang="en-GB" sz="2800" b="1" dirty="0"/>
              <a:t> is determined by the formula:-</a:t>
            </a:r>
            <a:endParaRPr lang="en-US" sz="2800" b="1" dirty="0"/>
          </a:p>
        </p:txBody>
      </p:sp>
      <p:pic>
        <p:nvPicPr>
          <p:cNvPr id="8" name="Picture 7">
            <a:extLst>
              <a:ext uri="{FF2B5EF4-FFF2-40B4-BE49-F238E27FC236}">
                <a16:creationId xmlns:a16="http://schemas.microsoft.com/office/drawing/2014/main" id="{2CEE733B-D9F9-991B-AD6F-91DB3174FA73}"/>
              </a:ext>
            </a:extLst>
          </p:cNvPr>
          <p:cNvPicPr>
            <a:picLocks noChangeAspect="1"/>
          </p:cNvPicPr>
          <p:nvPr/>
        </p:nvPicPr>
        <p:blipFill>
          <a:blip r:embed="rId2"/>
          <a:stretch>
            <a:fillRect/>
          </a:stretch>
        </p:blipFill>
        <p:spPr>
          <a:xfrm>
            <a:off x="2097905" y="3641551"/>
            <a:ext cx="3797113" cy="946649"/>
          </a:xfrm>
          <a:prstGeom prst="rect">
            <a:avLst/>
          </a:prstGeom>
        </p:spPr>
      </p:pic>
      <p:sp>
        <p:nvSpPr>
          <p:cNvPr id="9" name="TextBox 8">
            <a:extLst>
              <a:ext uri="{FF2B5EF4-FFF2-40B4-BE49-F238E27FC236}">
                <a16:creationId xmlns:a16="http://schemas.microsoft.com/office/drawing/2014/main" id="{74EFF425-F575-78FE-D85F-35458642FB71}"/>
              </a:ext>
            </a:extLst>
          </p:cNvPr>
          <p:cNvSpPr txBox="1"/>
          <p:nvPr/>
        </p:nvSpPr>
        <p:spPr>
          <a:xfrm>
            <a:off x="785565" y="4733346"/>
            <a:ext cx="6952606" cy="1200329"/>
          </a:xfrm>
          <a:prstGeom prst="rect">
            <a:avLst/>
          </a:prstGeom>
          <a:noFill/>
        </p:spPr>
        <p:txBody>
          <a:bodyPr wrap="square" rtlCol="0">
            <a:spAutoFit/>
          </a:bodyPr>
          <a:lstStyle/>
          <a:p>
            <a:pPr algn="l"/>
            <a:r>
              <a:rPr lang="en-GB" sz="2400" b="1" dirty="0"/>
              <a:t>Where,</a:t>
            </a:r>
          </a:p>
          <a:p>
            <a:pPr algn="l"/>
            <a:r>
              <a:rPr lang="en-GB" sz="2400" b="1" dirty="0"/>
              <a:t>R</a:t>
            </a:r>
            <a:r>
              <a:rPr lang="en-GB" sz="2400" b="1" baseline="-25000" dirty="0"/>
              <a:t>2</a:t>
            </a:r>
            <a:r>
              <a:rPr lang="en-GB" sz="2400" b="1" dirty="0"/>
              <a:t>= Reading on the test plate + base plate, </a:t>
            </a:r>
          </a:p>
          <a:p>
            <a:pPr algn="l"/>
            <a:r>
              <a:rPr lang="en-GB" sz="2400" b="1" dirty="0"/>
              <a:t>R</a:t>
            </a:r>
            <a:r>
              <a:rPr lang="en-GB" sz="2400" b="1" baseline="-25000" dirty="0"/>
              <a:t>1</a:t>
            </a:r>
            <a:r>
              <a:rPr lang="en-GB" sz="2400" b="1" dirty="0"/>
              <a:t>= Reading on the base plate .</a:t>
            </a:r>
            <a:endParaRPr lang="en-US" sz="2400" b="1" dirty="0"/>
          </a:p>
        </p:txBody>
      </p:sp>
      <p:pic>
        <p:nvPicPr>
          <p:cNvPr id="11" name="Content Placeholder 3">
            <a:extLst>
              <a:ext uri="{FF2B5EF4-FFF2-40B4-BE49-F238E27FC236}">
                <a16:creationId xmlns:a16="http://schemas.microsoft.com/office/drawing/2014/main" id="{022095BF-5AF7-2D94-5406-34F59DC4C0FE}"/>
              </a:ext>
            </a:extLst>
          </p:cNvPr>
          <p:cNvPicPr>
            <a:picLocks noGrp="1" noChangeAspect="1"/>
          </p:cNvPicPr>
          <p:nvPr>
            <p:ph idx="1"/>
          </p:nvPr>
        </p:nvPicPr>
        <p:blipFill>
          <a:blip r:embed="rId3"/>
          <a:srcRect/>
          <a:stretch/>
        </p:blipFill>
        <p:spPr>
          <a:xfrm>
            <a:off x="7541069" y="2343949"/>
            <a:ext cx="3865366" cy="3910662"/>
          </a:xfrm>
        </p:spPr>
      </p:pic>
    </p:spTree>
    <p:extLst>
      <p:ext uri="{BB962C8B-B14F-4D97-AF65-F5344CB8AC3E}">
        <p14:creationId xmlns:p14="http://schemas.microsoft.com/office/powerpoint/2010/main" val="2726295237"/>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01A10E0-B8C0-CF4D-1FF8-D720BAB3E835}"/>
              </a:ext>
            </a:extLst>
          </p:cNvPr>
          <p:cNvSpPr>
            <a:spLocks noGrp="1"/>
          </p:cNvSpPr>
          <p:nvPr>
            <p:ph type="title"/>
          </p:nvPr>
        </p:nvSpPr>
        <p:spPr>
          <a:xfrm>
            <a:off x="4958646" y="844312"/>
            <a:ext cx="4050882" cy="1081005"/>
          </a:xfrm>
        </p:spPr>
        <p:txBody>
          <a:bodyPr/>
          <a:lstStyle/>
          <a:p>
            <a:r>
              <a:rPr lang="en-GB" sz="4000" b="1" i="1" dirty="0">
                <a:latin typeface="Algerian" pitchFamily="82" charset="0"/>
              </a:rPr>
              <a:t>Theory</a:t>
            </a:r>
            <a:endParaRPr lang="en-US" sz="4000" b="1" i="1" dirty="0">
              <a:latin typeface="Algerian" pitchFamily="82" charset="0"/>
            </a:endParaRPr>
          </a:p>
        </p:txBody>
      </p:sp>
      <p:sp>
        <p:nvSpPr>
          <p:cNvPr id="7" name="TextBox 6">
            <a:extLst>
              <a:ext uri="{FF2B5EF4-FFF2-40B4-BE49-F238E27FC236}">
                <a16:creationId xmlns:a16="http://schemas.microsoft.com/office/drawing/2014/main" id="{3FC363C6-7261-B5E9-912E-D72515BC7E85}"/>
              </a:ext>
            </a:extLst>
          </p:cNvPr>
          <p:cNvSpPr txBox="1"/>
          <p:nvPr/>
        </p:nvSpPr>
        <p:spPr>
          <a:xfrm>
            <a:off x="520933" y="2355982"/>
            <a:ext cx="7362751" cy="1384995"/>
          </a:xfrm>
          <a:prstGeom prst="rect">
            <a:avLst/>
          </a:prstGeom>
          <a:noFill/>
        </p:spPr>
        <p:txBody>
          <a:bodyPr wrap="square" rtlCol="0">
            <a:spAutoFit/>
          </a:bodyPr>
          <a:lstStyle/>
          <a:p>
            <a:pPr algn="l"/>
            <a:r>
              <a:rPr lang="en-GB" sz="2800" b="1" dirty="0"/>
              <a:t>Radius of curvature of the spherical surface is determined by using the formula:-</a:t>
            </a:r>
            <a:endParaRPr lang="en-US" sz="2800" b="1" dirty="0"/>
          </a:p>
        </p:txBody>
      </p:sp>
      <p:pic>
        <p:nvPicPr>
          <p:cNvPr id="8" name="Picture 7">
            <a:extLst>
              <a:ext uri="{FF2B5EF4-FFF2-40B4-BE49-F238E27FC236}">
                <a16:creationId xmlns:a16="http://schemas.microsoft.com/office/drawing/2014/main" id="{37663E61-D6A0-FB59-2957-E05D94FB7642}"/>
              </a:ext>
            </a:extLst>
          </p:cNvPr>
          <p:cNvPicPr>
            <a:picLocks noChangeAspect="1"/>
          </p:cNvPicPr>
          <p:nvPr/>
        </p:nvPicPr>
        <p:blipFill rotWithShape="1">
          <a:blip r:embed="rId2"/>
          <a:srcRect t="29025" b="19388"/>
          <a:stretch/>
        </p:blipFill>
        <p:spPr>
          <a:xfrm>
            <a:off x="1841189" y="3731681"/>
            <a:ext cx="3236333" cy="879921"/>
          </a:xfrm>
          <a:prstGeom prst="rect">
            <a:avLst/>
          </a:prstGeom>
        </p:spPr>
      </p:pic>
      <p:sp>
        <p:nvSpPr>
          <p:cNvPr id="10" name="TextBox 9">
            <a:extLst>
              <a:ext uri="{FF2B5EF4-FFF2-40B4-BE49-F238E27FC236}">
                <a16:creationId xmlns:a16="http://schemas.microsoft.com/office/drawing/2014/main" id="{0576AA98-1115-0C4E-A7F1-F243D02326D5}"/>
              </a:ext>
            </a:extLst>
          </p:cNvPr>
          <p:cNvSpPr txBox="1"/>
          <p:nvPr/>
        </p:nvSpPr>
        <p:spPr>
          <a:xfrm>
            <a:off x="1390869" y="4690249"/>
            <a:ext cx="5575067" cy="1323439"/>
          </a:xfrm>
          <a:prstGeom prst="rect">
            <a:avLst/>
          </a:prstGeom>
          <a:noFill/>
        </p:spPr>
        <p:txBody>
          <a:bodyPr wrap="square" rtlCol="0">
            <a:spAutoFit/>
          </a:bodyPr>
          <a:lstStyle/>
          <a:p>
            <a:pPr algn="l"/>
            <a:r>
              <a:rPr lang="en-GB" sz="2000" b="1" dirty="0"/>
              <a:t>Where,</a:t>
            </a:r>
          </a:p>
          <a:p>
            <a:pPr algn="l"/>
            <a:r>
              <a:rPr lang="en-GB" sz="2000" b="1" dirty="0"/>
              <a:t> h — thickness of the glass plate.</a:t>
            </a:r>
          </a:p>
          <a:p>
            <a:pPr algn="l"/>
            <a:r>
              <a:rPr lang="en-GB" sz="2000" b="1" dirty="0"/>
              <a:t> a — average distance between three legs of the </a:t>
            </a:r>
            <a:r>
              <a:rPr lang="en-GB" sz="2000" b="1" dirty="0" err="1"/>
              <a:t>spherometer</a:t>
            </a:r>
            <a:r>
              <a:rPr lang="en-GB" sz="2000" b="1" dirty="0"/>
              <a:t>.</a:t>
            </a:r>
            <a:endParaRPr lang="en-US" sz="2000" b="1" dirty="0"/>
          </a:p>
        </p:txBody>
      </p:sp>
      <p:pic>
        <p:nvPicPr>
          <p:cNvPr id="12" name="Content Placeholder 3">
            <a:extLst>
              <a:ext uri="{FF2B5EF4-FFF2-40B4-BE49-F238E27FC236}">
                <a16:creationId xmlns:a16="http://schemas.microsoft.com/office/drawing/2014/main" id="{5F520EE0-E642-86BD-1D62-E12BF0FBA280}"/>
              </a:ext>
            </a:extLst>
          </p:cNvPr>
          <p:cNvPicPr>
            <a:picLocks noGrp="1" noChangeAspect="1"/>
          </p:cNvPicPr>
          <p:nvPr>
            <p:ph idx="1"/>
          </p:nvPr>
        </p:nvPicPr>
        <p:blipFill>
          <a:blip r:embed="rId3"/>
          <a:srcRect/>
          <a:stretch/>
        </p:blipFill>
        <p:spPr>
          <a:xfrm>
            <a:off x="7512692" y="2381426"/>
            <a:ext cx="3941402" cy="3987589"/>
          </a:xfrm>
        </p:spPr>
      </p:pic>
    </p:spTree>
    <p:extLst>
      <p:ext uri="{BB962C8B-B14F-4D97-AF65-F5344CB8AC3E}">
        <p14:creationId xmlns:p14="http://schemas.microsoft.com/office/powerpoint/2010/main" val="2058222009"/>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4EA147D-6A30-44B7-A01C-6EA0E8F7C874}"/>
              </a:ext>
            </a:extLst>
          </p:cNvPr>
          <p:cNvSpPr>
            <a:spLocks noGrp="1"/>
          </p:cNvSpPr>
          <p:nvPr>
            <p:ph type="title"/>
          </p:nvPr>
        </p:nvSpPr>
        <p:spPr>
          <a:xfrm>
            <a:off x="4164047" y="734291"/>
            <a:ext cx="4050882" cy="1081005"/>
          </a:xfrm>
        </p:spPr>
        <p:txBody>
          <a:bodyPr/>
          <a:lstStyle/>
          <a:p>
            <a:r>
              <a:rPr lang="en-GB" sz="4000" b="1" i="1" dirty="0">
                <a:latin typeface="Algerian" pitchFamily="82" charset="0"/>
              </a:rPr>
              <a:t>Apparatus</a:t>
            </a:r>
            <a:endParaRPr lang="en-US" sz="4000" b="1" i="1" dirty="0">
              <a:latin typeface="Algerian" pitchFamily="82" charset="0"/>
            </a:endParaRPr>
          </a:p>
        </p:txBody>
      </p:sp>
      <p:sp>
        <p:nvSpPr>
          <p:cNvPr id="7" name="TextBox 6">
            <a:extLst>
              <a:ext uri="{FF2B5EF4-FFF2-40B4-BE49-F238E27FC236}">
                <a16:creationId xmlns:a16="http://schemas.microsoft.com/office/drawing/2014/main" id="{994138B7-D8C7-BBB5-9A57-E7C825D9AAA9}"/>
              </a:ext>
            </a:extLst>
          </p:cNvPr>
          <p:cNvSpPr txBox="1"/>
          <p:nvPr/>
        </p:nvSpPr>
        <p:spPr>
          <a:xfrm>
            <a:off x="851182" y="5855583"/>
            <a:ext cx="3488552" cy="523220"/>
          </a:xfrm>
          <a:prstGeom prst="rect">
            <a:avLst/>
          </a:prstGeom>
          <a:noFill/>
        </p:spPr>
        <p:txBody>
          <a:bodyPr wrap="square" rtlCol="0">
            <a:spAutoFit/>
          </a:bodyPr>
          <a:lstStyle/>
          <a:p>
            <a:pPr algn="l"/>
            <a:r>
              <a:rPr lang="en-GB" sz="2800" b="1" dirty="0"/>
              <a:t>A </a:t>
            </a:r>
            <a:r>
              <a:rPr lang="en-GB" sz="2800" b="1" dirty="0" err="1"/>
              <a:t>Spherometer</a:t>
            </a:r>
            <a:endParaRPr lang="en-US" sz="2800" b="1" dirty="0"/>
          </a:p>
        </p:txBody>
      </p:sp>
      <p:pic>
        <p:nvPicPr>
          <p:cNvPr id="9" name="Picture 8">
            <a:extLst>
              <a:ext uri="{FF2B5EF4-FFF2-40B4-BE49-F238E27FC236}">
                <a16:creationId xmlns:a16="http://schemas.microsoft.com/office/drawing/2014/main" id="{FB798B93-5E94-1728-A88D-AEED2D248A19}"/>
              </a:ext>
            </a:extLst>
          </p:cNvPr>
          <p:cNvPicPr>
            <a:picLocks noChangeAspect="1"/>
          </p:cNvPicPr>
          <p:nvPr/>
        </p:nvPicPr>
        <p:blipFill>
          <a:blip r:embed="rId2"/>
          <a:stretch>
            <a:fillRect/>
          </a:stretch>
        </p:blipFill>
        <p:spPr>
          <a:xfrm>
            <a:off x="291613" y="2431111"/>
            <a:ext cx="3766954" cy="3424472"/>
          </a:xfrm>
          <a:prstGeom prst="rect">
            <a:avLst/>
          </a:prstGeom>
        </p:spPr>
      </p:pic>
      <p:sp>
        <p:nvSpPr>
          <p:cNvPr id="11" name="TextBox 10">
            <a:extLst>
              <a:ext uri="{FF2B5EF4-FFF2-40B4-BE49-F238E27FC236}">
                <a16:creationId xmlns:a16="http://schemas.microsoft.com/office/drawing/2014/main" id="{08829AB3-E6B2-84FE-0DEB-A94A2C03AF7F}"/>
              </a:ext>
            </a:extLst>
          </p:cNvPr>
          <p:cNvSpPr txBox="1"/>
          <p:nvPr/>
        </p:nvSpPr>
        <p:spPr>
          <a:xfrm>
            <a:off x="4461746" y="5903893"/>
            <a:ext cx="3268508" cy="523220"/>
          </a:xfrm>
          <a:prstGeom prst="rect">
            <a:avLst/>
          </a:prstGeom>
          <a:noFill/>
        </p:spPr>
        <p:txBody>
          <a:bodyPr wrap="square" rtlCol="0">
            <a:spAutoFit/>
          </a:bodyPr>
          <a:lstStyle/>
          <a:p>
            <a:pPr algn="l"/>
            <a:r>
              <a:rPr lang="en-GB" sz="2800" b="1" dirty="0"/>
              <a:t>A convex lens</a:t>
            </a:r>
          </a:p>
        </p:txBody>
      </p:sp>
      <p:pic>
        <p:nvPicPr>
          <p:cNvPr id="12" name="Picture 11">
            <a:extLst>
              <a:ext uri="{FF2B5EF4-FFF2-40B4-BE49-F238E27FC236}">
                <a16:creationId xmlns:a16="http://schemas.microsoft.com/office/drawing/2014/main" id="{C8A94C00-F90E-8387-5DCB-BB33EFF454BA}"/>
              </a:ext>
            </a:extLst>
          </p:cNvPr>
          <p:cNvPicPr>
            <a:picLocks noChangeAspect="1"/>
          </p:cNvPicPr>
          <p:nvPr/>
        </p:nvPicPr>
        <p:blipFill>
          <a:blip r:embed="rId3"/>
          <a:stretch>
            <a:fillRect/>
          </a:stretch>
        </p:blipFill>
        <p:spPr>
          <a:xfrm>
            <a:off x="4781550" y="3102858"/>
            <a:ext cx="2628900" cy="2752725"/>
          </a:xfrm>
          <a:prstGeom prst="rect">
            <a:avLst/>
          </a:prstGeom>
        </p:spPr>
      </p:pic>
      <p:pic>
        <p:nvPicPr>
          <p:cNvPr id="13" name="Picture 12">
            <a:extLst>
              <a:ext uri="{FF2B5EF4-FFF2-40B4-BE49-F238E27FC236}">
                <a16:creationId xmlns:a16="http://schemas.microsoft.com/office/drawing/2014/main" id="{DE8024F6-64D4-3CCE-23DE-A648493B493A}"/>
              </a:ext>
            </a:extLst>
          </p:cNvPr>
          <p:cNvPicPr>
            <a:picLocks noChangeAspect="1"/>
          </p:cNvPicPr>
          <p:nvPr/>
        </p:nvPicPr>
        <p:blipFill>
          <a:blip r:embed="rId4"/>
          <a:stretch>
            <a:fillRect/>
          </a:stretch>
        </p:blipFill>
        <p:spPr>
          <a:xfrm>
            <a:off x="8214929" y="3262641"/>
            <a:ext cx="2902861" cy="2902862"/>
          </a:xfrm>
          <a:prstGeom prst="rect">
            <a:avLst/>
          </a:prstGeom>
        </p:spPr>
      </p:pic>
      <p:sp>
        <p:nvSpPr>
          <p:cNvPr id="15" name="TextBox 14">
            <a:extLst>
              <a:ext uri="{FF2B5EF4-FFF2-40B4-BE49-F238E27FC236}">
                <a16:creationId xmlns:a16="http://schemas.microsoft.com/office/drawing/2014/main" id="{50EBA7D4-28C5-FB80-F047-46237F769F39}"/>
              </a:ext>
            </a:extLst>
          </p:cNvPr>
          <p:cNvSpPr txBox="1"/>
          <p:nvPr/>
        </p:nvSpPr>
        <p:spPr>
          <a:xfrm>
            <a:off x="7886420" y="5855583"/>
            <a:ext cx="5139055" cy="523220"/>
          </a:xfrm>
          <a:prstGeom prst="rect">
            <a:avLst/>
          </a:prstGeom>
          <a:noFill/>
        </p:spPr>
        <p:txBody>
          <a:bodyPr wrap="square" rtlCol="0">
            <a:spAutoFit/>
          </a:bodyPr>
          <a:lstStyle/>
          <a:p>
            <a:pPr algn="l"/>
            <a:r>
              <a:rPr lang="en-GB" sz="2800" b="1" dirty="0"/>
              <a:t>A Plane glass plate</a:t>
            </a:r>
            <a:endParaRPr lang="en-US" sz="2800" b="1" dirty="0"/>
          </a:p>
        </p:txBody>
      </p:sp>
    </p:spTree>
    <p:extLst>
      <p:ext uri="{BB962C8B-B14F-4D97-AF65-F5344CB8AC3E}">
        <p14:creationId xmlns:p14="http://schemas.microsoft.com/office/powerpoint/2010/main" val="114122876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B86711D-FD08-C82F-8438-A0BDDBA2A064}"/>
              </a:ext>
            </a:extLst>
          </p:cNvPr>
          <p:cNvSpPr>
            <a:spLocks noGrp="1"/>
          </p:cNvSpPr>
          <p:nvPr>
            <p:ph type="title"/>
          </p:nvPr>
        </p:nvSpPr>
        <p:spPr>
          <a:xfrm>
            <a:off x="4164047" y="734291"/>
            <a:ext cx="4050882" cy="1081005"/>
          </a:xfrm>
        </p:spPr>
        <p:txBody>
          <a:bodyPr/>
          <a:lstStyle/>
          <a:p>
            <a:r>
              <a:rPr lang="en-GB" sz="4000" b="1" i="1" dirty="0">
                <a:latin typeface="Algerian" pitchFamily="82" charset="0"/>
              </a:rPr>
              <a:t>Procedures</a:t>
            </a:r>
            <a:endParaRPr lang="en-US" sz="4000" b="1" i="1" dirty="0">
              <a:latin typeface="Algerian" pitchFamily="82" charset="0"/>
            </a:endParaRPr>
          </a:p>
        </p:txBody>
      </p:sp>
      <p:sp>
        <p:nvSpPr>
          <p:cNvPr id="7" name="TextBox 6">
            <a:extLst>
              <a:ext uri="{FF2B5EF4-FFF2-40B4-BE49-F238E27FC236}">
                <a16:creationId xmlns:a16="http://schemas.microsoft.com/office/drawing/2014/main" id="{BA42A7DF-9CB3-D1EB-2EC3-AB8E39171329}"/>
              </a:ext>
            </a:extLst>
          </p:cNvPr>
          <p:cNvSpPr txBox="1"/>
          <p:nvPr/>
        </p:nvSpPr>
        <p:spPr>
          <a:xfrm>
            <a:off x="482671" y="2386295"/>
            <a:ext cx="8128000" cy="1384995"/>
          </a:xfrm>
          <a:prstGeom prst="rect">
            <a:avLst/>
          </a:prstGeom>
          <a:noFill/>
        </p:spPr>
        <p:txBody>
          <a:bodyPr wrap="square" rtlCol="0">
            <a:spAutoFit/>
          </a:bodyPr>
          <a:lstStyle/>
          <a:p>
            <a:pPr marL="514350" indent="-514350" algn="l">
              <a:buFont typeface="+mj-lt"/>
              <a:buAutoNum type="arabicPeriod"/>
            </a:pPr>
            <a:r>
              <a:rPr lang="en-GB" sz="2800" b="1" dirty="0"/>
              <a:t>Determine the pitch and the least count of the </a:t>
            </a:r>
            <a:r>
              <a:rPr lang="en-GB" sz="2800" b="1" dirty="0" err="1"/>
              <a:t>Spherometer</a:t>
            </a:r>
            <a:r>
              <a:rPr lang="en-GB" sz="2800" b="1" dirty="0"/>
              <a:t> by using the formula given below:-</a:t>
            </a:r>
            <a:endParaRPr lang="en-US" sz="2800" b="1" dirty="0"/>
          </a:p>
        </p:txBody>
      </p:sp>
      <p:pic>
        <p:nvPicPr>
          <p:cNvPr id="8" name="Picture 7">
            <a:extLst>
              <a:ext uri="{FF2B5EF4-FFF2-40B4-BE49-F238E27FC236}">
                <a16:creationId xmlns:a16="http://schemas.microsoft.com/office/drawing/2014/main" id="{E8F4B1FA-C9DE-B5BD-CE61-29FEF2C1E528}"/>
              </a:ext>
            </a:extLst>
          </p:cNvPr>
          <p:cNvPicPr>
            <a:picLocks noChangeAspect="1"/>
          </p:cNvPicPr>
          <p:nvPr/>
        </p:nvPicPr>
        <p:blipFill rotWithShape="1">
          <a:blip r:embed="rId2"/>
          <a:srcRect b="48020"/>
          <a:stretch/>
        </p:blipFill>
        <p:spPr>
          <a:xfrm>
            <a:off x="275670" y="3934126"/>
            <a:ext cx="8660511" cy="1373762"/>
          </a:xfrm>
          <a:prstGeom prst="rect">
            <a:avLst/>
          </a:prstGeom>
        </p:spPr>
      </p:pic>
      <p:pic>
        <p:nvPicPr>
          <p:cNvPr id="10" name="Picture 9">
            <a:extLst>
              <a:ext uri="{FF2B5EF4-FFF2-40B4-BE49-F238E27FC236}">
                <a16:creationId xmlns:a16="http://schemas.microsoft.com/office/drawing/2014/main" id="{C790CC6D-B950-BD4A-E4E7-408640598C22}"/>
              </a:ext>
            </a:extLst>
          </p:cNvPr>
          <p:cNvPicPr>
            <a:picLocks noChangeAspect="1"/>
          </p:cNvPicPr>
          <p:nvPr/>
        </p:nvPicPr>
        <p:blipFill>
          <a:blip r:embed="rId3"/>
          <a:stretch>
            <a:fillRect/>
          </a:stretch>
        </p:blipFill>
        <p:spPr>
          <a:xfrm>
            <a:off x="1205126" y="4841739"/>
            <a:ext cx="7009803" cy="1352956"/>
          </a:xfrm>
          <a:prstGeom prst="rect">
            <a:avLst/>
          </a:prstGeom>
        </p:spPr>
      </p:pic>
      <p:pic>
        <p:nvPicPr>
          <p:cNvPr id="12" name="Picture 11">
            <a:extLst>
              <a:ext uri="{FF2B5EF4-FFF2-40B4-BE49-F238E27FC236}">
                <a16:creationId xmlns:a16="http://schemas.microsoft.com/office/drawing/2014/main" id="{5F8423D1-C123-8C4E-5793-7BF021596B19}"/>
              </a:ext>
            </a:extLst>
          </p:cNvPr>
          <p:cNvPicPr>
            <a:picLocks noChangeAspect="1"/>
          </p:cNvPicPr>
          <p:nvPr/>
        </p:nvPicPr>
        <p:blipFill>
          <a:blip r:embed="rId4"/>
          <a:stretch>
            <a:fillRect/>
          </a:stretch>
        </p:blipFill>
        <p:spPr>
          <a:xfrm>
            <a:off x="8842225" y="2692884"/>
            <a:ext cx="2734470" cy="3735614"/>
          </a:xfrm>
          <a:prstGeom prst="rect">
            <a:avLst/>
          </a:prstGeom>
        </p:spPr>
      </p:pic>
    </p:spTree>
    <p:extLst>
      <p:ext uri="{BB962C8B-B14F-4D97-AF65-F5344CB8AC3E}">
        <p14:creationId xmlns:p14="http://schemas.microsoft.com/office/powerpoint/2010/main" val="1762848456"/>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C24C064-792D-49F8-AEF9-77E4BD1095EB}"/>
              </a:ext>
            </a:extLst>
          </p:cNvPr>
          <p:cNvSpPr>
            <a:spLocks noGrp="1"/>
          </p:cNvSpPr>
          <p:nvPr>
            <p:ph type="title"/>
          </p:nvPr>
        </p:nvSpPr>
        <p:spPr>
          <a:xfrm>
            <a:off x="4164047" y="734291"/>
            <a:ext cx="4050882" cy="1081005"/>
          </a:xfrm>
        </p:spPr>
        <p:txBody>
          <a:bodyPr/>
          <a:lstStyle/>
          <a:p>
            <a:r>
              <a:rPr lang="en-GB" sz="4000" b="1" i="1" dirty="0">
                <a:latin typeface="Algerian" pitchFamily="82" charset="0"/>
              </a:rPr>
              <a:t>Procedures</a:t>
            </a:r>
            <a:endParaRPr lang="en-US" sz="4000" b="1" i="1" dirty="0">
              <a:latin typeface="Algerian" pitchFamily="82" charset="0"/>
            </a:endParaRPr>
          </a:p>
        </p:txBody>
      </p:sp>
      <p:sp>
        <p:nvSpPr>
          <p:cNvPr id="5" name="TextBox 4">
            <a:extLst>
              <a:ext uri="{FF2B5EF4-FFF2-40B4-BE49-F238E27FC236}">
                <a16:creationId xmlns:a16="http://schemas.microsoft.com/office/drawing/2014/main" id="{3DE8FDE5-A551-9A2E-CCE7-0CABF6B330BB}"/>
              </a:ext>
            </a:extLst>
          </p:cNvPr>
          <p:cNvSpPr txBox="1"/>
          <p:nvPr/>
        </p:nvSpPr>
        <p:spPr>
          <a:xfrm>
            <a:off x="604917" y="2594114"/>
            <a:ext cx="8128000" cy="2677656"/>
          </a:xfrm>
          <a:prstGeom prst="rect">
            <a:avLst/>
          </a:prstGeom>
          <a:noFill/>
        </p:spPr>
        <p:txBody>
          <a:bodyPr wrap="square" rtlCol="0">
            <a:spAutoFit/>
          </a:bodyPr>
          <a:lstStyle/>
          <a:p>
            <a:pPr algn="l"/>
            <a:r>
              <a:rPr lang="en-GB" sz="2800" b="1" dirty="0"/>
              <a:t>2. Place the </a:t>
            </a:r>
            <a:r>
              <a:rPr lang="en-GB" sz="2800" b="1" dirty="0" err="1"/>
              <a:t>Spherometer</a:t>
            </a:r>
            <a:r>
              <a:rPr lang="en-GB" sz="2800" b="1" dirty="0"/>
              <a:t> on the glass plate to be called the base plate and see that all the legs including the central leg touch the plate.</a:t>
            </a:r>
          </a:p>
          <a:p>
            <a:pPr algn="l"/>
            <a:r>
              <a:rPr lang="en-GB" sz="2800" b="1" dirty="0"/>
              <a:t>
3. Tilt the screw-head and make sure that all the legs touch the plate.</a:t>
            </a:r>
            <a:endParaRPr lang="en-US" sz="2800" b="1" dirty="0"/>
          </a:p>
        </p:txBody>
      </p:sp>
      <p:pic>
        <p:nvPicPr>
          <p:cNvPr id="7" name="Picture 6">
            <a:extLst>
              <a:ext uri="{FF2B5EF4-FFF2-40B4-BE49-F238E27FC236}">
                <a16:creationId xmlns:a16="http://schemas.microsoft.com/office/drawing/2014/main" id="{8352C61C-8546-3215-B3C0-32B47D094855}"/>
              </a:ext>
            </a:extLst>
          </p:cNvPr>
          <p:cNvPicPr>
            <a:picLocks noChangeAspect="1"/>
          </p:cNvPicPr>
          <p:nvPr/>
        </p:nvPicPr>
        <p:blipFill>
          <a:blip r:embed="rId2"/>
          <a:stretch>
            <a:fillRect/>
          </a:stretch>
        </p:blipFill>
        <p:spPr>
          <a:xfrm>
            <a:off x="8842225" y="2692884"/>
            <a:ext cx="2834104" cy="3871726"/>
          </a:xfrm>
          <a:prstGeom prst="rect">
            <a:avLst/>
          </a:prstGeom>
        </p:spPr>
      </p:pic>
    </p:spTree>
    <p:extLst>
      <p:ext uri="{BB962C8B-B14F-4D97-AF65-F5344CB8AC3E}">
        <p14:creationId xmlns:p14="http://schemas.microsoft.com/office/powerpoint/2010/main" val="3683414819"/>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C24C064-792D-49F8-AEF9-77E4BD1095EB}"/>
              </a:ext>
            </a:extLst>
          </p:cNvPr>
          <p:cNvSpPr>
            <a:spLocks noGrp="1"/>
          </p:cNvSpPr>
          <p:nvPr>
            <p:ph type="title"/>
          </p:nvPr>
        </p:nvSpPr>
        <p:spPr>
          <a:xfrm>
            <a:off x="4164047" y="734291"/>
            <a:ext cx="4050882" cy="1081005"/>
          </a:xfrm>
        </p:spPr>
        <p:txBody>
          <a:bodyPr/>
          <a:lstStyle/>
          <a:p>
            <a:r>
              <a:rPr lang="en-GB" sz="4000" b="1" i="1" dirty="0">
                <a:latin typeface="Algerian" pitchFamily="82" charset="0"/>
              </a:rPr>
              <a:t>Procedures</a:t>
            </a:r>
            <a:endParaRPr lang="en-US" sz="4000" b="1" i="1" dirty="0">
              <a:latin typeface="Algerian" pitchFamily="82" charset="0"/>
            </a:endParaRPr>
          </a:p>
        </p:txBody>
      </p:sp>
      <p:sp>
        <p:nvSpPr>
          <p:cNvPr id="5" name="TextBox 4">
            <a:extLst>
              <a:ext uri="{FF2B5EF4-FFF2-40B4-BE49-F238E27FC236}">
                <a16:creationId xmlns:a16="http://schemas.microsoft.com/office/drawing/2014/main" id="{3DE8FDE5-A551-9A2E-CCE7-0CABF6B330BB}"/>
              </a:ext>
            </a:extLst>
          </p:cNvPr>
          <p:cNvSpPr txBox="1"/>
          <p:nvPr/>
        </p:nvSpPr>
        <p:spPr>
          <a:xfrm>
            <a:off x="722852" y="2437180"/>
            <a:ext cx="8905822" cy="3970318"/>
          </a:xfrm>
          <a:prstGeom prst="rect">
            <a:avLst/>
          </a:prstGeom>
          <a:noFill/>
        </p:spPr>
        <p:txBody>
          <a:bodyPr wrap="square" rtlCol="0">
            <a:spAutoFit/>
          </a:bodyPr>
          <a:lstStyle/>
          <a:p>
            <a:pPr algn="l"/>
            <a:r>
              <a:rPr lang="en-GB" sz="2800" b="1" dirty="0"/>
              <a:t>4. Take reading both on the pitch-scale and on the C scale where the sharp-edge of the C -scale is against any particular reading on the pitch-scale.</a:t>
            </a:r>
          </a:p>
          <a:p>
            <a:pPr algn="l"/>
            <a:endParaRPr lang="en-GB" sz="2800" b="1" dirty="0"/>
          </a:p>
          <a:p>
            <a:pPr algn="l"/>
            <a:r>
              <a:rPr lang="en-GB" sz="2800" b="1" dirty="0"/>
              <a:t>5. Now screw-up the central leg and introduce the test plate under it. Take reading both on the pitch-scale and on the C-scale. Enter the result in the table -1 and then find T = (R2 –R1)</a:t>
            </a:r>
          </a:p>
        </p:txBody>
      </p:sp>
      <p:pic>
        <p:nvPicPr>
          <p:cNvPr id="7" name="Picture 6">
            <a:extLst>
              <a:ext uri="{FF2B5EF4-FFF2-40B4-BE49-F238E27FC236}">
                <a16:creationId xmlns:a16="http://schemas.microsoft.com/office/drawing/2014/main" id="{8352C61C-8546-3215-B3C0-32B47D094855}"/>
              </a:ext>
            </a:extLst>
          </p:cNvPr>
          <p:cNvPicPr>
            <a:picLocks noChangeAspect="1"/>
          </p:cNvPicPr>
          <p:nvPr/>
        </p:nvPicPr>
        <p:blipFill>
          <a:blip r:embed="rId2"/>
          <a:stretch>
            <a:fillRect/>
          </a:stretch>
        </p:blipFill>
        <p:spPr>
          <a:xfrm>
            <a:off x="9628674" y="2561412"/>
            <a:ext cx="2563326" cy="3501811"/>
          </a:xfrm>
          <a:prstGeom prst="rect">
            <a:avLst/>
          </a:prstGeom>
        </p:spPr>
      </p:pic>
    </p:spTree>
    <p:extLst>
      <p:ext uri="{BB962C8B-B14F-4D97-AF65-F5344CB8AC3E}">
        <p14:creationId xmlns:p14="http://schemas.microsoft.com/office/powerpoint/2010/main" val="369039553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D75A708-0406-00CA-820B-A42EA0936F9E}"/>
              </a:ext>
            </a:extLst>
          </p:cNvPr>
          <p:cNvSpPr>
            <a:spLocks noGrp="1"/>
          </p:cNvSpPr>
          <p:nvPr>
            <p:ph type="title"/>
          </p:nvPr>
        </p:nvSpPr>
        <p:spPr>
          <a:xfrm>
            <a:off x="4164047" y="734291"/>
            <a:ext cx="4050882" cy="1081005"/>
          </a:xfrm>
        </p:spPr>
        <p:txBody>
          <a:bodyPr/>
          <a:lstStyle/>
          <a:p>
            <a:r>
              <a:rPr lang="en-GB" sz="4000" b="1" i="1" dirty="0">
                <a:latin typeface="Algerian" pitchFamily="82" charset="0"/>
              </a:rPr>
              <a:t>Procedures</a:t>
            </a:r>
            <a:endParaRPr lang="en-US" sz="4000" b="1" i="1" dirty="0">
              <a:latin typeface="Algerian" pitchFamily="82" charset="0"/>
            </a:endParaRPr>
          </a:p>
        </p:txBody>
      </p:sp>
      <p:pic>
        <p:nvPicPr>
          <p:cNvPr id="7" name="Picture 6">
            <a:extLst>
              <a:ext uri="{FF2B5EF4-FFF2-40B4-BE49-F238E27FC236}">
                <a16:creationId xmlns:a16="http://schemas.microsoft.com/office/drawing/2014/main" id="{B03CF342-CD86-F090-3F41-1839FA631E92}"/>
              </a:ext>
            </a:extLst>
          </p:cNvPr>
          <p:cNvPicPr>
            <a:picLocks noChangeAspect="1"/>
          </p:cNvPicPr>
          <p:nvPr/>
        </p:nvPicPr>
        <p:blipFill>
          <a:blip r:embed="rId2"/>
          <a:stretch>
            <a:fillRect/>
          </a:stretch>
        </p:blipFill>
        <p:spPr>
          <a:xfrm>
            <a:off x="9160065" y="2594114"/>
            <a:ext cx="2563326" cy="3501811"/>
          </a:xfrm>
          <a:prstGeom prst="rect">
            <a:avLst/>
          </a:prstGeom>
        </p:spPr>
      </p:pic>
      <p:sp>
        <p:nvSpPr>
          <p:cNvPr id="9" name="TextBox 8">
            <a:extLst>
              <a:ext uri="{FF2B5EF4-FFF2-40B4-BE49-F238E27FC236}">
                <a16:creationId xmlns:a16="http://schemas.microsoft.com/office/drawing/2014/main" id="{3D855EDE-F250-332D-1271-E389BBEFC95D}"/>
              </a:ext>
            </a:extLst>
          </p:cNvPr>
          <p:cNvSpPr txBox="1"/>
          <p:nvPr/>
        </p:nvSpPr>
        <p:spPr>
          <a:xfrm>
            <a:off x="604916" y="2594114"/>
            <a:ext cx="8824089" cy="3108543"/>
          </a:xfrm>
          <a:prstGeom prst="rect">
            <a:avLst/>
          </a:prstGeom>
          <a:noFill/>
        </p:spPr>
        <p:txBody>
          <a:bodyPr wrap="square" rtlCol="0">
            <a:spAutoFit/>
          </a:bodyPr>
          <a:lstStyle/>
          <a:p>
            <a:pPr algn="l"/>
            <a:r>
              <a:rPr lang="en-GB" sz="2800" b="1" dirty="0"/>
              <a:t>6. Now, to measure the distance between two legs of the </a:t>
            </a:r>
            <a:r>
              <a:rPr lang="en-GB" sz="2800" b="1" dirty="0" err="1"/>
              <a:t>spherometer</a:t>
            </a:r>
            <a:r>
              <a:rPr lang="en-GB" sz="2800" b="1" dirty="0"/>
              <a:t>, place the </a:t>
            </a:r>
            <a:r>
              <a:rPr lang="en-GB" sz="2800" b="1" dirty="0" err="1"/>
              <a:t>spherometer</a:t>
            </a:r>
            <a:r>
              <a:rPr lang="en-GB" sz="2800" b="1" dirty="0"/>
              <a:t> on a piece of paper and press it lightly so that an imprint of the three legs is made on the paper.
7. Measure each side of the triangle AB, BC, and CA formed by the points (A, B, C).</a:t>
            </a:r>
            <a:endParaRPr lang="en-US" sz="2800" b="1" dirty="0"/>
          </a:p>
        </p:txBody>
      </p:sp>
    </p:spTree>
    <p:extLst>
      <p:ext uri="{BB962C8B-B14F-4D97-AF65-F5344CB8AC3E}">
        <p14:creationId xmlns:p14="http://schemas.microsoft.com/office/powerpoint/2010/main" val="589593445"/>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6266B6E-B880-DC36-974A-14787A5F1C20}"/>
              </a:ext>
            </a:extLst>
          </p:cNvPr>
          <p:cNvSpPr>
            <a:spLocks noGrp="1"/>
          </p:cNvSpPr>
          <p:nvPr>
            <p:ph type="title"/>
          </p:nvPr>
        </p:nvSpPr>
        <p:spPr>
          <a:xfrm>
            <a:off x="4164047" y="734291"/>
            <a:ext cx="4050882" cy="1081005"/>
          </a:xfrm>
        </p:spPr>
        <p:txBody>
          <a:bodyPr/>
          <a:lstStyle/>
          <a:p>
            <a:r>
              <a:rPr lang="en-GB" sz="4000" b="1" i="1" dirty="0">
                <a:latin typeface="Algerian" pitchFamily="82" charset="0"/>
              </a:rPr>
              <a:t>Procedures</a:t>
            </a:r>
            <a:endParaRPr lang="en-US" sz="4000" b="1" i="1" dirty="0">
              <a:latin typeface="Algerian" pitchFamily="82" charset="0"/>
            </a:endParaRPr>
          </a:p>
        </p:txBody>
      </p:sp>
      <p:pic>
        <p:nvPicPr>
          <p:cNvPr id="7" name="Picture 6">
            <a:extLst>
              <a:ext uri="{FF2B5EF4-FFF2-40B4-BE49-F238E27FC236}">
                <a16:creationId xmlns:a16="http://schemas.microsoft.com/office/drawing/2014/main" id="{E29E4C57-074E-3C10-C3C1-9D6544C73CC0}"/>
              </a:ext>
            </a:extLst>
          </p:cNvPr>
          <p:cNvPicPr>
            <a:picLocks noChangeAspect="1"/>
          </p:cNvPicPr>
          <p:nvPr/>
        </p:nvPicPr>
        <p:blipFill>
          <a:blip r:embed="rId2"/>
          <a:stretch>
            <a:fillRect/>
          </a:stretch>
        </p:blipFill>
        <p:spPr>
          <a:xfrm>
            <a:off x="8327200" y="2448392"/>
            <a:ext cx="2968330" cy="4055095"/>
          </a:xfrm>
          <a:prstGeom prst="rect">
            <a:avLst/>
          </a:prstGeom>
        </p:spPr>
      </p:pic>
      <p:sp>
        <p:nvSpPr>
          <p:cNvPr id="9" name="TextBox 8">
            <a:extLst>
              <a:ext uri="{FF2B5EF4-FFF2-40B4-BE49-F238E27FC236}">
                <a16:creationId xmlns:a16="http://schemas.microsoft.com/office/drawing/2014/main" id="{EF03B14B-0B41-0332-C64B-80A24DA2AC21}"/>
              </a:ext>
            </a:extLst>
          </p:cNvPr>
          <p:cNvSpPr txBox="1"/>
          <p:nvPr/>
        </p:nvSpPr>
        <p:spPr>
          <a:xfrm>
            <a:off x="672355" y="2943915"/>
            <a:ext cx="8068234" cy="1815882"/>
          </a:xfrm>
          <a:prstGeom prst="rect">
            <a:avLst/>
          </a:prstGeom>
          <a:noFill/>
        </p:spPr>
        <p:txBody>
          <a:bodyPr wrap="square" rtlCol="0">
            <a:spAutoFit/>
          </a:bodyPr>
          <a:lstStyle/>
          <a:p>
            <a:pPr algn="l"/>
            <a:r>
              <a:rPr lang="en-GB" sz="2800" b="1" dirty="0"/>
              <a:t>8. Take mean of the readings that will give the value of `a’ in your formula to calculate the radius of curvature of the spherical surface.</a:t>
            </a:r>
            <a:endParaRPr lang="en-US" sz="2800" b="1" dirty="0"/>
          </a:p>
        </p:txBody>
      </p:sp>
    </p:spTree>
    <p:extLst>
      <p:ext uri="{BB962C8B-B14F-4D97-AF65-F5344CB8AC3E}">
        <p14:creationId xmlns:p14="http://schemas.microsoft.com/office/powerpoint/2010/main" val="2936522984"/>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1782825-4EDE-74FB-0B9C-203A21FD1E32}"/>
              </a:ext>
            </a:extLst>
          </p:cNvPr>
          <p:cNvPicPr>
            <a:picLocks noChangeAspect="1"/>
          </p:cNvPicPr>
          <p:nvPr/>
        </p:nvPicPr>
        <p:blipFill>
          <a:blip r:embed="rId2"/>
          <a:stretch>
            <a:fillRect/>
          </a:stretch>
        </p:blipFill>
        <p:spPr>
          <a:xfrm>
            <a:off x="0" y="0"/>
            <a:ext cx="12192000" cy="6858000"/>
          </a:xfrm>
          <a:prstGeom prst="rect">
            <a:avLst/>
          </a:prstGeom>
        </p:spPr>
      </p:pic>
      <p:graphicFrame>
        <p:nvGraphicFramePr>
          <p:cNvPr id="4" name="Table 3">
            <a:extLst>
              <a:ext uri="{FF2B5EF4-FFF2-40B4-BE49-F238E27FC236}">
                <a16:creationId xmlns:a16="http://schemas.microsoft.com/office/drawing/2014/main" id="{A701742D-7EF2-3F08-3080-6B525FDB68E0}"/>
              </a:ext>
            </a:extLst>
          </p:cNvPr>
          <p:cNvGraphicFramePr>
            <a:graphicFrameLocks noGrp="1"/>
          </p:cNvGraphicFramePr>
          <p:nvPr>
            <p:extLst>
              <p:ext uri="{D42A27DB-BD31-4B8C-83A1-F6EECF244321}">
                <p14:modId xmlns:p14="http://schemas.microsoft.com/office/powerpoint/2010/main" val="3233891498"/>
              </p:ext>
            </p:extLst>
          </p:nvPr>
        </p:nvGraphicFramePr>
        <p:xfrm>
          <a:off x="157844" y="544899"/>
          <a:ext cx="11876311" cy="6181570"/>
        </p:xfrm>
        <a:graphic>
          <a:graphicData uri="http://schemas.openxmlformats.org/drawingml/2006/table">
            <a:tbl>
              <a:tblPr firstRow="1" bandRow="1">
                <a:tableStyleId>{5DA37D80-6434-44D0-A028-1B22A696006F}</a:tableStyleId>
              </a:tblPr>
              <a:tblGrid>
                <a:gridCol w="1319591">
                  <a:extLst>
                    <a:ext uri="{9D8B030D-6E8A-4147-A177-3AD203B41FA5}">
                      <a16:colId xmlns:a16="http://schemas.microsoft.com/office/drawing/2014/main" val="1953364143"/>
                    </a:ext>
                  </a:extLst>
                </a:gridCol>
                <a:gridCol w="1319590">
                  <a:extLst>
                    <a:ext uri="{9D8B030D-6E8A-4147-A177-3AD203B41FA5}">
                      <a16:colId xmlns:a16="http://schemas.microsoft.com/office/drawing/2014/main" val="238378618"/>
                    </a:ext>
                  </a:extLst>
                </a:gridCol>
                <a:gridCol w="1319590">
                  <a:extLst>
                    <a:ext uri="{9D8B030D-6E8A-4147-A177-3AD203B41FA5}">
                      <a16:colId xmlns:a16="http://schemas.microsoft.com/office/drawing/2014/main" val="1086371832"/>
                    </a:ext>
                  </a:extLst>
                </a:gridCol>
                <a:gridCol w="1319590">
                  <a:extLst>
                    <a:ext uri="{9D8B030D-6E8A-4147-A177-3AD203B41FA5}">
                      <a16:colId xmlns:a16="http://schemas.microsoft.com/office/drawing/2014/main" val="2469231791"/>
                    </a:ext>
                  </a:extLst>
                </a:gridCol>
                <a:gridCol w="1319590">
                  <a:extLst>
                    <a:ext uri="{9D8B030D-6E8A-4147-A177-3AD203B41FA5}">
                      <a16:colId xmlns:a16="http://schemas.microsoft.com/office/drawing/2014/main" val="911436970"/>
                    </a:ext>
                  </a:extLst>
                </a:gridCol>
                <a:gridCol w="1319590">
                  <a:extLst>
                    <a:ext uri="{9D8B030D-6E8A-4147-A177-3AD203B41FA5}">
                      <a16:colId xmlns:a16="http://schemas.microsoft.com/office/drawing/2014/main" val="3547218838"/>
                    </a:ext>
                  </a:extLst>
                </a:gridCol>
                <a:gridCol w="1319590">
                  <a:extLst>
                    <a:ext uri="{9D8B030D-6E8A-4147-A177-3AD203B41FA5}">
                      <a16:colId xmlns:a16="http://schemas.microsoft.com/office/drawing/2014/main" val="52288926"/>
                    </a:ext>
                  </a:extLst>
                </a:gridCol>
                <a:gridCol w="1319590">
                  <a:extLst>
                    <a:ext uri="{9D8B030D-6E8A-4147-A177-3AD203B41FA5}">
                      <a16:colId xmlns:a16="http://schemas.microsoft.com/office/drawing/2014/main" val="3623350957"/>
                    </a:ext>
                  </a:extLst>
                </a:gridCol>
                <a:gridCol w="1319590">
                  <a:extLst>
                    <a:ext uri="{9D8B030D-6E8A-4147-A177-3AD203B41FA5}">
                      <a16:colId xmlns:a16="http://schemas.microsoft.com/office/drawing/2014/main" val="2580321113"/>
                    </a:ext>
                  </a:extLst>
                </a:gridCol>
              </a:tblGrid>
              <a:tr h="1508206">
                <a:tc>
                  <a:txBody>
                    <a:bodyPr/>
                    <a:lstStyle/>
                    <a:p>
                      <a:pPr lvl="0" algn="ctr"/>
                      <a:r>
                        <a:rPr lang="en-GB" dirty="0"/>
                        <a:t>Reading on</a:t>
                      </a:r>
                      <a:endParaRPr lang="en-US" b="1" dirty="0"/>
                    </a:p>
                  </a:txBody>
                  <a:tcPr anchor="ctr"/>
                </a:tc>
                <a:tc>
                  <a:txBody>
                    <a:bodyPr/>
                    <a:lstStyle/>
                    <a:p>
                      <a:pPr algn="ctr"/>
                      <a:r>
                        <a:rPr lang="en-GB" dirty="0"/>
                        <a:t>No. Of objects</a:t>
                      </a:r>
                    </a:p>
                    <a:p>
                      <a:pPr algn="ctr"/>
                      <a:r>
                        <a:rPr lang="en-GB" dirty="0"/>
                        <a:t>(O)</a:t>
                      </a:r>
                      <a:endParaRPr lang="en-US" dirty="0"/>
                    </a:p>
                  </a:txBody>
                  <a:tcPr anchor="ctr"/>
                </a:tc>
                <a:tc>
                  <a:txBody>
                    <a:bodyPr/>
                    <a:lstStyle/>
                    <a:p>
                      <a:pPr algn="ctr"/>
                      <a:r>
                        <a:rPr lang="en-GB" dirty="0"/>
                        <a:t>Pitch scale reading (M) (cm)</a:t>
                      </a:r>
                      <a:endParaRPr lang="en-US" b="1" dirty="0"/>
                    </a:p>
                  </a:txBody>
                  <a:tcPr anchor="ctr"/>
                </a:tc>
                <a:tc>
                  <a:txBody>
                    <a:bodyPr/>
                    <a:lstStyle/>
                    <a:p>
                      <a:pPr algn="ctr"/>
                      <a:r>
                        <a:rPr lang="en-GB" dirty="0"/>
                        <a:t>Circular scale reading (N) div</a:t>
                      </a:r>
                      <a:endParaRPr lang="en-US" dirty="0"/>
                    </a:p>
                  </a:txBody>
                  <a:tcPr anchor="ctr"/>
                </a:tc>
                <a:tc>
                  <a:txBody>
                    <a:bodyPr/>
                    <a:lstStyle/>
                    <a:p>
                      <a:pPr algn="ctr"/>
                      <a:r>
                        <a:rPr lang="en-GB" dirty="0"/>
                        <a:t>Least Count (</a:t>
                      </a:r>
                      <a:r>
                        <a:rPr lang="en-GB" dirty="0" err="1"/>
                        <a:t>L</a:t>
                      </a:r>
                      <a:r>
                        <a:rPr lang="en-GB" baseline="-25000" dirty="0" err="1"/>
                        <a:t>c</a:t>
                      </a:r>
                      <a:r>
                        <a:rPr lang="en-GB" dirty="0"/>
                        <a:t>) (cm)</a:t>
                      </a:r>
                      <a:endParaRPr lang="en-US" dirty="0"/>
                    </a:p>
                  </a:txBody>
                  <a:tcPr anchor="ctr"/>
                </a:tc>
                <a:tc>
                  <a:txBody>
                    <a:bodyPr/>
                    <a:lstStyle/>
                    <a:p>
                      <a:pPr algn="ctr"/>
                      <a:r>
                        <a:rPr lang="en-GB" dirty="0"/>
                        <a:t>Fractional reading</a:t>
                      </a:r>
                    </a:p>
                    <a:p>
                      <a:pPr algn="ctr"/>
                      <a:r>
                        <a:rPr lang="en-GB" dirty="0"/>
                        <a:t>(F=</a:t>
                      </a:r>
                      <a:r>
                        <a:rPr lang="en-GB" dirty="0" err="1"/>
                        <a:t>N×L</a:t>
                      </a:r>
                      <a:r>
                        <a:rPr lang="en-GB" baseline="-25000" dirty="0" err="1"/>
                        <a:t>c</a:t>
                      </a:r>
                      <a:r>
                        <a:rPr lang="en-GB" dirty="0"/>
                        <a:t>) (cm)</a:t>
                      </a:r>
                    </a:p>
                    <a:p>
                      <a:endParaRPr lang="en-US" dirty="0"/>
                    </a:p>
                  </a:txBody>
                  <a:tcPr anchor="ctr"/>
                </a:tc>
                <a:tc>
                  <a:txBody>
                    <a:bodyPr/>
                    <a:lstStyle/>
                    <a:p>
                      <a:pPr algn="ctr"/>
                      <a:r>
                        <a:rPr lang="en-GB" dirty="0"/>
                        <a:t>Total reading</a:t>
                      </a:r>
                    </a:p>
                    <a:p>
                      <a:pPr algn="ctr"/>
                      <a:r>
                        <a:rPr lang="en-GB" dirty="0"/>
                        <a:t>(T=M+F)</a:t>
                      </a:r>
                    </a:p>
                    <a:p>
                      <a:pPr algn="ctr"/>
                      <a:r>
                        <a:rPr lang="en-GB" dirty="0"/>
                        <a:t>(cm)</a:t>
                      </a:r>
                      <a:endParaRPr lang="en-US" dirty="0"/>
                    </a:p>
                  </a:txBody>
                  <a:tcPr anchor="ctr"/>
                </a:tc>
                <a:tc>
                  <a:txBody>
                    <a:bodyPr/>
                    <a:lstStyle/>
                    <a:p>
                      <a:pPr algn="ctr"/>
                      <a:r>
                        <a:rPr lang="en-GB" dirty="0"/>
                        <a:t>Mean reading (cm)</a:t>
                      </a:r>
                      <a:endParaRPr lang="en-US" dirty="0"/>
                    </a:p>
                  </a:txBody>
                  <a:tcPr anchor="ctr"/>
                </a:tc>
                <a:tc>
                  <a:txBody>
                    <a:bodyPr/>
                    <a:lstStyle/>
                    <a:p>
                      <a:pPr algn="ctr"/>
                      <a:r>
                        <a:rPr lang="en-GB" dirty="0"/>
                        <a:t>T=(</a:t>
                      </a:r>
                      <a:r>
                        <a:rPr lang="en-GB" dirty="0" err="1"/>
                        <a:t>R</a:t>
                      </a:r>
                      <a:r>
                        <a:rPr lang="en-GB" baseline="-25000" dirty="0" err="1"/>
                        <a:t>t</a:t>
                      </a:r>
                      <a:r>
                        <a:rPr lang="en-GB" dirty="0"/>
                        <a:t> - </a:t>
                      </a:r>
                      <a:r>
                        <a:rPr lang="en-GB" dirty="0" err="1"/>
                        <a:t>R</a:t>
                      </a:r>
                      <a:r>
                        <a:rPr lang="en-GB" baseline="-25000" dirty="0" err="1"/>
                        <a:t>b</a:t>
                      </a:r>
                      <a:r>
                        <a:rPr lang="en-GB" dirty="0"/>
                        <a:t>)</a:t>
                      </a:r>
                    </a:p>
                    <a:p>
                      <a:pPr algn="ctr"/>
                      <a:r>
                        <a:rPr lang="en-GB" dirty="0"/>
                        <a:t>Thickness</a:t>
                      </a:r>
                    </a:p>
                    <a:p>
                      <a:pPr algn="ctr"/>
                      <a:r>
                        <a:rPr lang="en-GB" dirty="0"/>
                        <a:t>(cm)</a:t>
                      </a:r>
                      <a:endParaRPr lang="en-US" dirty="0"/>
                    </a:p>
                  </a:txBody>
                  <a:tcPr anchor="ctr"/>
                </a:tc>
                <a:extLst>
                  <a:ext uri="{0D108BD9-81ED-4DB2-BD59-A6C34878D82A}">
                    <a16:rowId xmlns:a16="http://schemas.microsoft.com/office/drawing/2014/main" val="2157878393"/>
                  </a:ext>
                </a:extLst>
              </a:tr>
              <a:tr h="778894">
                <a:tc rowSpan="3">
                  <a:txBody>
                    <a:bodyPr/>
                    <a:lstStyle/>
                    <a:p>
                      <a:pPr algn="ctr"/>
                      <a:r>
                        <a:rPr lang="en-GB" b="0" dirty="0">
                          <a:latin typeface="Amasis MT Pro Black" panose="02000000000000000000" pitchFamily="2" charset="0"/>
                          <a:ea typeface="Amasis MT Pro Black" panose="02000000000000000000" pitchFamily="2" charset="0"/>
                        </a:rPr>
                        <a:t>Base plate</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1</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0</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8</a:t>
                      </a:r>
                      <a:endParaRPr lang="en-US" b="0" dirty="0">
                        <a:latin typeface="Amasis MT Pro Black" panose="02000000000000000000" pitchFamily="2" charset="0"/>
                        <a:ea typeface="Amasis MT Pro Black" panose="02000000000000000000" pitchFamily="2" charset="0"/>
                      </a:endParaRPr>
                    </a:p>
                  </a:txBody>
                  <a:tcPr anchor="ctr"/>
                </a:tc>
                <a:tc rowSpan="3">
                  <a:txBody>
                    <a:bodyPr/>
                    <a:lstStyle/>
                    <a:p>
                      <a:pPr algn="ctr"/>
                      <a:r>
                        <a:rPr lang="en-GB" b="0" dirty="0">
                          <a:latin typeface="Amasis MT Pro Black" panose="02000000000000000000" pitchFamily="2" charset="0"/>
                          <a:ea typeface="Amasis MT Pro Black" panose="02000000000000000000" pitchFamily="2" charset="0"/>
                        </a:rPr>
                        <a:t>0.001</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0.008</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0.008</a:t>
                      </a:r>
                      <a:endParaRPr lang="en-US" b="0" dirty="0">
                        <a:latin typeface="Amasis MT Pro Black" panose="02000000000000000000" pitchFamily="2" charset="0"/>
                        <a:ea typeface="Amasis MT Pro Black" panose="02000000000000000000" pitchFamily="2" charset="0"/>
                      </a:endParaRPr>
                    </a:p>
                  </a:txBody>
                  <a:tcPr anchor="ctr"/>
                </a:tc>
                <a:tc rowSpan="3">
                  <a:txBody>
                    <a:bodyPr/>
                    <a:lstStyle/>
                    <a:p>
                      <a:pPr algn="ctr"/>
                      <a:r>
                        <a:rPr lang="en-GB" b="0" dirty="0" err="1">
                          <a:latin typeface="Amasis MT Pro Black" panose="02000000000000000000" pitchFamily="2" charset="0"/>
                          <a:ea typeface="Amasis MT Pro Black" panose="02000000000000000000" pitchFamily="2" charset="0"/>
                        </a:rPr>
                        <a:t>R</a:t>
                      </a:r>
                      <a:r>
                        <a:rPr lang="en-GB" b="0" baseline="-25000" dirty="0" err="1">
                          <a:latin typeface="Amasis MT Pro Black" panose="02000000000000000000" pitchFamily="2" charset="0"/>
                          <a:ea typeface="Amasis MT Pro Black" panose="02000000000000000000" pitchFamily="2" charset="0"/>
                        </a:rPr>
                        <a:t>b</a:t>
                      </a:r>
                      <a:endParaRPr lang="en-GB" b="0" dirty="0">
                        <a:latin typeface="Amasis MT Pro Black" panose="02000000000000000000" pitchFamily="2" charset="0"/>
                        <a:ea typeface="Amasis MT Pro Black" panose="02000000000000000000" pitchFamily="2" charset="0"/>
                      </a:endParaRPr>
                    </a:p>
                    <a:p>
                      <a:pPr algn="ctr"/>
                      <a:r>
                        <a:rPr lang="en-GB" b="0" dirty="0">
                          <a:latin typeface="Amasis MT Pro Black" panose="02000000000000000000" pitchFamily="2" charset="0"/>
                          <a:ea typeface="Amasis MT Pro Black" panose="02000000000000000000" pitchFamily="2" charset="0"/>
                        </a:rPr>
                        <a:t>0.00933</a:t>
                      </a:r>
                    </a:p>
                    <a:p>
                      <a:pPr algn="ctr"/>
                      <a:endParaRPr lang="en-GB" b="0" dirty="0">
                        <a:latin typeface="Amasis MT Pro Black" panose="02000000000000000000" pitchFamily="2" charset="0"/>
                        <a:ea typeface="Amasis MT Pro Black" panose="02000000000000000000" pitchFamily="2" charset="0"/>
                      </a:endParaRPr>
                    </a:p>
                    <a:p>
                      <a:pPr algn="ctr"/>
                      <a:endParaRPr lang="en-US" b="0" dirty="0">
                        <a:latin typeface="Amasis MT Pro Black" panose="02000000000000000000" pitchFamily="2" charset="0"/>
                        <a:ea typeface="Amasis MT Pro Black" panose="02000000000000000000" pitchFamily="2" charset="0"/>
                      </a:endParaRPr>
                    </a:p>
                  </a:txBody>
                  <a:tcPr anchor="ctr"/>
                </a:tc>
                <a:tc rowSpan="6">
                  <a:txBody>
                    <a:bodyPr/>
                    <a:lstStyle/>
                    <a:p>
                      <a:pPr algn="ctr"/>
                      <a:r>
                        <a:rPr lang="en-GB" b="0" dirty="0">
                          <a:latin typeface="Amasis MT Pro Black" panose="02000000000000000000" pitchFamily="2" charset="0"/>
                          <a:ea typeface="Amasis MT Pro Black" panose="02000000000000000000" pitchFamily="2" charset="0"/>
                        </a:rPr>
                        <a:t>0.1037</a:t>
                      </a:r>
                      <a:endParaRPr lang="en-US" b="0" dirty="0">
                        <a:latin typeface="Amasis MT Pro Black" panose="02000000000000000000" pitchFamily="2" charset="0"/>
                        <a:ea typeface="Amasis MT Pro Black" panose="02000000000000000000" pitchFamily="2" charset="0"/>
                      </a:endParaRPr>
                    </a:p>
                  </a:txBody>
                  <a:tcPr anchor="ctr"/>
                </a:tc>
                <a:extLst>
                  <a:ext uri="{0D108BD9-81ED-4DB2-BD59-A6C34878D82A}">
                    <a16:rowId xmlns:a16="http://schemas.microsoft.com/office/drawing/2014/main" val="3673091162"/>
                  </a:ext>
                </a:extLst>
              </a:tr>
              <a:tr h="778894">
                <a:tc vMerge="1">
                  <a:txBody>
                    <a:bodyPr/>
                    <a:lstStyle/>
                    <a:p>
                      <a:endParaRPr lang="en-US" dirty="0"/>
                    </a:p>
                  </a:txBody>
                  <a:tcPr/>
                </a:tc>
                <a:tc>
                  <a:txBody>
                    <a:bodyPr/>
                    <a:lstStyle/>
                    <a:p>
                      <a:pPr algn="ctr"/>
                      <a:r>
                        <a:rPr lang="en-GB" b="0" dirty="0">
                          <a:latin typeface="Amasis MT Pro Black" panose="02000000000000000000" pitchFamily="2" charset="0"/>
                          <a:ea typeface="Amasis MT Pro Black" panose="02000000000000000000" pitchFamily="2" charset="0"/>
                        </a:rPr>
                        <a:t>2</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0</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11</a:t>
                      </a:r>
                      <a:endParaRPr lang="en-US" b="0" dirty="0">
                        <a:latin typeface="Amasis MT Pro Black" panose="02000000000000000000" pitchFamily="2" charset="0"/>
                        <a:ea typeface="Amasis MT Pro Black" panose="02000000000000000000" pitchFamily="2" charset="0"/>
                      </a:endParaRPr>
                    </a:p>
                  </a:txBody>
                  <a:tcPr anchor="ctr"/>
                </a:tc>
                <a:tc vMerge="1">
                  <a:txBody>
                    <a:bodyPr/>
                    <a:lstStyle/>
                    <a:p>
                      <a:endParaRPr lang="en-US" dirty="0"/>
                    </a:p>
                  </a:txBody>
                  <a:tcPr/>
                </a:tc>
                <a:tc>
                  <a:txBody>
                    <a:bodyPr/>
                    <a:lstStyle/>
                    <a:p>
                      <a:pPr algn="ctr"/>
                      <a:r>
                        <a:rPr lang="en-GB" b="0" dirty="0">
                          <a:latin typeface="Amasis MT Pro Black" panose="02000000000000000000" pitchFamily="2" charset="0"/>
                          <a:ea typeface="Amasis MT Pro Black" panose="02000000000000000000" pitchFamily="2" charset="0"/>
                        </a:rPr>
                        <a:t>0.011</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0.011</a:t>
                      </a:r>
                      <a:endParaRPr lang="en-US" b="0" dirty="0">
                        <a:latin typeface="Amasis MT Pro Black" panose="02000000000000000000" pitchFamily="2" charset="0"/>
                        <a:ea typeface="Amasis MT Pro Black" panose="02000000000000000000" pitchFamily="2" charset="0"/>
                      </a:endParaRPr>
                    </a:p>
                  </a:txBody>
                  <a:tcPr anchor="ct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1086359607"/>
                  </a:ext>
                </a:extLst>
              </a:tr>
              <a:tr h="778894">
                <a:tc vMerge="1">
                  <a:txBody>
                    <a:bodyPr/>
                    <a:lstStyle/>
                    <a:p>
                      <a:endParaRPr lang="en-US" dirty="0"/>
                    </a:p>
                  </a:txBody>
                  <a:tcPr/>
                </a:tc>
                <a:tc>
                  <a:txBody>
                    <a:bodyPr/>
                    <a:lstStyle/>
                    <a:p>
                      <a:pPr algn="ctr"/>
                      <a:r>
                        <a:rPr lang="en-GB" b="0" dirty="0">
                          <a:latin typeface="Amasis MT Pro Black" panose="02000000000000000000" pitchFamily="2" charset="0"/>
                          <a:ea typeface="Amasis MT Pro Black" panose="02000000000000000000" pitchFamily="2" charset="0"/>
                        </a:rPr>
                        <a:t>3</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0</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9</a:t>
                      </a:r>
                      <a:endParaRPr lang="en-US" b="0" dirty="0">
                        <a:latin typeface="Amasis MT Pro Black" panose="02000000000000000000" pitchFamily="2" charset="0"/>
                        <a:ea typeface="Amasis MT Pro Black" panose="02000000000000000000" pitchFamily="2" charset="0"/>
                      </a:endParaRPr>
                    </a:p>
                  </a:txBody>
                  <a:tcPr anchor="ctr"/>
                </a:tc>
                <a:tc vMerge="1">
                  <a:txBody>
                    <a:bodyPr/>
                    <a:lstStyle/>
                    <a:p>
                      <a:endParaRPr lang="en-US" dirty="0"/>
                    </a:p>
                  </a:txBody>
                  <a:tcPr/>
                </a:tc>
                <a:tc>
                  <a:txBody>
                    <a:bodyPr/>
                    <a:lstStyle/>
                    <a:p>
                      <a:pPr algn="ctr"/>
                      <a:r>
                        <a:rPr lang="en-GB" b="0" dirty="0">
                          <a:latin typeface="Amasis MT Pro Black" panose="02000000000000000000" pitchFamily="2" charset="0"/>
                          <a:ea typeface="Amasis MT Pro Black" panose="02000000000000000000" pitchFamily="2" charset="0"/>
                        </a:rPr>
                        <a:t>0.009</a:t>
                      </a:r>
                    </a:p>
                  </a:txBody>
                  <a:tcPr anchor="ctr"/>
                </a:tc>
                <a:tc>
                  <a:txBody>
                    <a:bodyPr/>
                    <a:lstStyle/>
                    <a:p>
                      <a:pPr algn="ctr"/>
                      <a:r>
                        <a:rPr lang="en-GB" b="0" dirty="0">
                          <a:latin typeface="Amasis MT Pro Black" panose="02000000000000000000" pitchFamily="2" charset="0"/>
                          <a:ea typeface="Amasis MT Pro Black" panose="02000000000000000000" pitchFamily="2" charset="0"/>
                        </a:rPr>
                        <a:t>0.009</a:t>
                      </a:r>
                      <a:endParaRPr lang="en-US" b="0" dirty="0">
                        <a:latin typeface="Amasis MT Pro Black" panose="02000000000000000000" pitchFamily="2" charset="0"/>
                        <a:ea typeface="Amasis MT Pro Black" panose="02000000000000000000" pitchFamily="2" charset="0"/>
                      </a:endParaRPr>
                    </a:p>
                  </a:txBody>
                  <a:tcPr anchor="ct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302379292"/>
                  </a:ext>
                </a:extLst>
              </a:tr>
              <a:tr h="778894">
                <a:tc rowSpan="3">
                  <a:txBody>
                    <a:bodyPr/>
                    <a:lstStyle/>
                    <a:p>
                      <a:pPr algn="ctr"/>
                      <a:r>
                        <a:rPr lang="en-GB" b="0" dirty="0">
                          <a:latin typeface="Amasis MT Pro Black" panose="02000000000000000000" pitchFamily="2" charset="0"/>
                          <a:ea typeface="Amasis MT Pro Black" panose="02000000000000000000" pitchFamily="2" charset="0"/>
                        </a:rPr>
                        <a:t>Test plate</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1</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1</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15</a:t>
                      </a:r>
                      <a:endParaRPr lang="en-US" b="0" dirty="0">
                        <a:latin typeface="Amasis MT Pro Black" panose="02000000000000000000" pitchFamily="2" charset="0"/>
                        <a:ea typeface="Amasis MT Pro Black" panose="02000000000000000000" pitchFamily="2" charset="0"/>
                      </a:endParaRPr>
                    </a:p>
                  </a:txBody>
                  <a:tcPr anchor="ctr"/>
                </a:tc>
                <a:tc rowSpan="3">
                  <a:txBody>
                    <a:bodyPr/>
                    <a:lstStyle/>
                    <a:p>
                      <a:pPr algn="ctr"/>
                      <a:r>
                        <a:rPr lang="en-GB" b="0" dirty="0">
                          <a:latin typeface="Amasis MT Pro Black" panose="02000000000000000000" pitchFamily="2" charset="0"/>
                          <a:ea typeface="Amasis MT Pro Black" panose="02000000000000000000" pitchFamily="2" charset="0"/>
                        </a:rPr>
                        <a:t>0.001</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0.015</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1.015</a:t>
                      </a:r>
                      <a:endParaRPr lang="en-US" b="0" dirty="0">
                        <a:latin typeface="Amasis MT Pro Black" panose="02000000000000000000" pitchFamily="2" charset="0"/>
                        <a:ea typeface="Amasis MT Pro Black" panose="02000000000000000000" pitchFamily="2" charset="0"/>
                      </a:endParaRPr>
                    </a:p>
                  </a:txBody>
                  <a:tcPr anchor="ctr"/>
                </a:tc>
                <a:tc rowSpan="3">
                  <a:txBody>
                    <a:bodyPr/>
                    <a:lstStyle/>
                    <a:p>
                      <a:pPr algn="ctr"/>
                      <a:r>
                        <a:rPr lang="en-GB" b="0" dirty="0" err="1">
                          <a:latin typeface="Amasis MT Pro Black" panose="02000000000000000000" pitchFamily="2" charset="0"/>
                          <a:ea typeface="Amasis MT Pro Black" panose="02000000000000000000" pitchFamily="2" charset="0"/>
                        </a:rPr>
                        <a:t>R</a:t>
                      </a:r>
                      <a:r>
                        <a:rPr lang="en-GB" b="0" baseline="-25000" dirty="0" err="1">
                          <a:latin typeface="Amasis MT Pro Black" panose="02000000000000000000" pitchFamily="2" charset="0"/>
                          <a:ea typeface="Amasis MT Pro Black" panose="02000000000000000000" pitchFamily="2" charset="0"/>
                        </a:rPr>
                        <a:t>t</a:t>
                      </a:r>
                      <a:endParaRPr lang="en-GB" b="0" dirty="0">
                        <a:latin typeface="Amasis MT Pro Black" panose="02000000000000000000" pitchFamily="2" charset="0"/>
                        <a:ea typeface="Amasis MT Pro Black" panose="02000000000000000000" pitchFamily="2" charset="0"/>
                      </a:endParaRPr>
                    </a:p>
                    <a:p>
                      <a:pPr algn="ctr"/>
                      <a:r>
                        <a:rPr lang="en-GB" b="0" dirty="0">
                          <a:latin typeface="Amasis MT Pro Black" panose="02000000000000000000" pitchFamily="2" charset="0"/>
                          <a:ea typeface="Amasis MT Pro Black" panose="02000000000000000000" pitchFamily="2" charset="0"/>
                        </a:rPr>
                        <a:t>0.113</a:t>
                      </a:r>
                    </a:p>
                    <a:p>
                      <a:pPr algn="ctr"/>
                      <a:endParaRPr lang="en-US" b="0" dirty="0">
                        <a:latin typeface="Amasis MT Pro Black" panose="02000000000000000000" pitchFamily="2" charset="0"/>
                        <a:ea typeface="Amasis MT Pro Black" panose="02000000000000000000" pitchFamily="2" charset="0"/>
                      </a:endParaRPr>
                    </a:p>
                  </a:txBody>
                  <a:tcPr anchor="ctr"/>
                </a:tc>
                <a:tc vMerge="1">
                  <a:txBody>
                    <a:bodyPr/>
                    <a:lstStyle/>
                    <a:p>
                      <a:endParaRPr lang="en-US" dirty="0"/>
                    </a:p>
                  </a:txBody>
                  <a:tcPr/>
                </a:tc>
                <a:extLst>
                  <a:ext uri="{0D108BD9-81ED-4DB2-BD59-A6C34878D82A}">
                    <a16:rowId xmlns:a16="http://schemas.microsoft.com/office/drawing/2014/main" val="1940196978"/>
                  </a:ext>
                </a:extLst>
              </a:tr>
              <a:tr h="778894">
                <a:tc vMerge="1">
                  <a:txBody>
                    <a:bodyPr/>
                    <a:lstStyle/>
                    <a:p>
                      <a:endParaRPr lang="en-US" dirty="0"/>
                    </a:p>
                  </a:txBody>
                  <a:tcPr/>
                </a:tc>
                <a:tc>
                  <a:txBody>
                    <a:bodyPr/>
                    <a:lstStyle/>
                    <a:p>
                      <a:pPr algn="ctr"/>
                      <a:r>
                        <a:rPr lang="en-GB" b="0" dirty="0">
                          <a:latin typeface="Amasis MT Pro Black" panose="02000000000000000000" pitchFamily="2" charset="0"/>
                          <a:ea typeface="Amasis MT Pro Black" panose="02000000000000000000" pitchFamily="2" charset="0"/>
                        </a:rPr>
                        <a:t>2</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1</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13</a:t>
                      </a:r>
                      <a:endParaRPr lang="en-US" b="0" dirty="0">
                        <a:latin typeface="Amasis MT Pro Black" panose="02000000000000000000" pitchFamily="2" charset="0"/>
                        <a:ea typeface="Amasis MT Pro Black" panose="02000000000000000000" pitchFamily="2" charset="0"/>
                      </a:endParaRPr>
                    </a:p>
                  </a:txBody>
                  <a:tcPr anchor="ctr"/>
                </a:tc>
                <a:tc vMerge="1">
                  <a:txBody>
                    <a:bodyPr/>
                    <a:lstStyle/>
                    <a:p>
                      <a:endParaRPr lang="en-US" dirty="0"/>
                    </a:p>
                  </a:txBody>
                  <a:tcPr/>
                </a:tc>
                <a:tc>
                  <a:txBody>
                    <a:bodyPr/>
                    <a:lstStyle/>
                    <a:p>
                      <a:pPr algn="ctr"/>
                      <a:r>
                        <a:rPr lang="en-GB" b="0" dirty="0">
                          <a:latin typeface="Amasis MT Pro Black" panose="02000000000000000000" pitchFamily="2" charset="0"/>
                          <a:ea typeface="Amasis MT Pro Black" panose="02000000000000000000" pitchFamily="2" charset="0"/>
                        </a:rPr>
                        <a:t>0.013</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1.013</a:t>
                      </a:r>
                      <a:endParaRPr lang="en-US" b="0" dirty="0">
                        <a:latin typeface="Amasis MT Pro Black" panose="02000000000000000000" pitchFamily="2" charset="0"/>
                        <a:ea typeface="Amasis MT Pro Black" panose="02000000000000000000" pitchFamily="2" charset="0"/>
                      </a:endParaRPr>
                    </a:p>
                  </a:txBody>
                  <a:tcPr anchor="ct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35101842"/>
                  </a:ext>
                </a:extLst>
              </a:tr>
              <a:tr h="778894">
                <a:tc vMerge="1">
                  <a:txBody>
                    <a:bodyPr/>
                    <a:lstStyle/>
                    <a:p>
                      <a:endParaRPr lang="en-US" dirty="0"/>
                    </a:p>
                  </a:txBody>
                  <a:tcPr/>
                </a:tc>
                <a:tc>
                  <a:txBody>
                    <a:bodyPr/>
                    <a:lstStyle/>
                    <a:p>
                      <a:pPr algn="ctr"/>
                      <a:r>
                        <a:rPr lang="en-GB" b="0" dirty="0">
                          <a:latin typeface="Amasis MT Pro Black" panose="02000000000000000000" pitchFamily="2" charset="0"/>
                          <a:ea typeface="Amasis MT Pro Black" panose="02000000000000000000" pitchFamily="2" charset="0"/>
                        </a:rPr>
                        <a:t>3</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1</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11</a:t>
                      </a:r>
                      <a:endParaRPr lang="en-US" b="0" dirty="0">
                        <a:latin typeface="Amasis MT Pro Black" panose="02000000000000000000" pitchFamily="2" charset="0"/>
                        <a:ea typeface="Amasis MT Pro Black" panose="02000000000000000000" pitchFamily="2" charset="0"/>
                      </a:endParaRPr>
                    </a:p>
                  </a:txBody>
                  <a:tcPr anchor="ctr"/>
                </a:tc>
                <a:tc vMerge="1">
                  <a:txBody>
                    <a:bodyPr/>
                    <a:lstStyle/>
                    <a:p>
                      <a:endParaRPr lang="en-US" dirty="0"/>
                    </a:p>
                  </a:txBody>
                  <a:tcPr/>
                </a:tc>
                <a:tc>
                  <a:txBody>
                    <a:bodyPr/>
                    <a:lstStyle/>
                    <a:p>
                      <a:pPr algn="ctr"/>
                      <a:r>
                        <a:rPr lang="en-GB" b="0" dirty="0">
                          <a:latin typeface="Amasis MT Pro Black" panose="02000000000000000000" pitchFamily="2" charset="0"/>
                          <a:ea typeface="Amasis MT Pro Black" panose="02000000000000000000" pitchFamily="2" charset="0"/>
                        </a:rPr>
                        <a:t>0.011</a:t>
                      </a:r>
                      <a:endParaRPr lang="en-US" b="0" dirty="0">
                        <a:latin typeface="Amasis MT Pro Black" panose="02000000000000000000" pitchFamily="2" charset="0"/>
                        <a:ea typeface="Amasis MT Pro Black" panose="02000000000000000000" pitchFamily="2" charset="0"/>
                      </a:endParaRPr>
                    </a:p>
                  </a:txBody>
                  <a:tcPr anchor="ctr"/>
                </a:tc>
                <a:tc>
                  <a:txBody>
                    <a:bodyPr/>
                    <a:lstStyle/>
                    <a:p>
                      <a:pPr algn="ctr"/>
                      <a:r>
                        <a:rPr lang="en-GB" b="0" dirty="0">
                          <a:latin typeface="Amasis MT Pro Black" panose="02000000000000000000" pitchFamily="2" charset="0"/>
                          <a:ea typeface="Amasis MT Pro Black" panose="02000000000000000000" pitchFamily="2" charset="0"/>
                        </a:rPr>
                        <a:t>1.011</a:t>
                      </a:r>
                      <a:endParaRPr lang="en-US" b="0" dirty="0">
                        <a:latin typeface="Amasis MT Pro Black" panose="02000000000000000000" pitchFamily="2" charset="0"/>
                        <a:ea typeface="Amasis MT Pro Black" panose="02000000000000000000" pitchFamily="2" charset="0"/>
                      </a:endParaRPr>
                    </a:p>
                  </a:txBody>
                  <a:tcPr anchor="ctr"/>
                </a:tc>
                <a:tc vMerge="1">
                  <a:txBody>
                    <a:bodyPr/>
                    <a:lstStyle/>
                    <a:p>
                      <a:endParaRPr lang="en-US" dirty="0"/>
                    </a:p>
                  </a:txBody>
                  <a:tcPr/>
                </a:tc>
                <a:tc vMerge="1">
                  <a:txBody>
                    <a:bodyPr/>
                    <a:lstStyle/>
                    <a:p>
                      <a:endParaRPr lang="en-US" dirty="0"/>
                    </a:p>
                  </a:txBody>
                  <a:tcPr/>
                </a:tc>
                <a:extLst>
                  <a:ext uri="{0D108BD9-81ED-4DB2-BD59-A6C34878D82A}">
                    <a16:rowId xmlns:a16="http://schemas.microsoft.com/office/drawing/2014/main" val="22370968"/>
                  </a:ext>
                </a:extLst>
              </a:tr>
            </a:tbl>
          </a:graphicData>
        </a:graphic>
      </p:graphicFrame>
      <p:sp>
        <p:nvSpPr>
          <p:cNvPr id="6" name="Title 1">
            <a:extLst>
              <a:ext uri="{FF2B5EF4-FFF2-40B4-BE49-F238E27FC236}">
                <a16:creationId xmlns:a16="http://schemas.microsoft.com/office/drawing/2014/main" id="{A5DC8034-F5CE-F139-483F-B9E0359A9497}"/>
              </a:ext>
            </a:extLst>
          </p:cNvPr>
          <p:cNvSpPr txBox="1">
            <a:spLocks/>
          </p:cNvSpPr>
          <p:nvPr/>
        </p:nvSpPr>
        <p:spPr>
          <a:xfrm>
            <a:off x="0" y="0"/>
            <a:ext cx="7938307" cy="891580"/>
          </a:xfrm>
          <a:prstGeom prst="rect">
            <a:avLst/>
          </a:prstGeom>
        </p:spPr>
        <p:txBody>
          <a:bodyPr anchor="t"/>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8" algn="ctr"/>
            <a:r>
              <a:rPr lang="en-GB" sz="2800" dirty="0">
                <a:solidFill>
                  <a:schemeClr val="accent2"/>
                </a:solidFill>
                <a:latin typeface="Amasis MT Pro" panose="02040504050005020304" pitchFamily="18" charset="0"/>
              </a:rPr>
              <a:t>Experimental Data</a:t>
            </a:r>
            <a:endParaRPr lang="en-US" sz="2800" dirty="0">
              <a:solidFill>
                <a:schemeClr val="accent2"/>
              </a:solidFill>
              <a:latin typeface="Amasis MT Pro" panose="02040504050005020304" pitchFamily="18" charset="0"/>
            </a:endParaRPr>
          </a:p>
        </p:txBody>
      </p:sp>
    </p:spTree>
    <p:extLst>
      <p:ext uri="{BB962C8B-B14F-4D97-AF65-F5344CB8AC3E}">
        <p14:creationId xmlns:p14="http://schemas.microsoft.com/office/powerpoint/2010/main" val="2999932419"/>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7615AA-50D0-62BE-A8C8-D56A0E3F7900}"/>
              </a:ext>
            </a:extLst>
          </p:cNvPr>
          <p:cNvSpPr txBox="1"/>
          <p:nvPr/>
        </p:nvSpPr>
        <p:spPr>
          <a:xfrm>
            <a:off x="1561080" y="2230351"/>
            <a:ext cx="8267496" cy="3139321"/>
          </a:xfrm>
          <a:prstGeom prst="rect">
            <a:avLst/>
          </a:prstGeom>
          <a:noFill/>
        </p:spPr>
        <p:txBody>
          <a:bodyPr wrap="square" rtlCol="0" anchor="ctr">
            <a:spAutoFit/>
          </a:bodyPr>
          <a:lstStyle/>
          <a:p>
            <a:pPr algn="ctr"/>
            <a:r>
              <a:rPr lang="en-GB" sz="6600" b="1" dirty="0">
                <a:solidFill>
                  <a:schemeClr val="accent2">
                    <a:lumMod val="75000"/>
                  </a:schemeClr>
                </a:solidFill>
                <a:latin typeface="Algerian" pitchFamily="82" charset="0"/>
              </a:rPr>
              <a:t>Result </a:t>
            </a:r>
          </a:p>
          <a:p>
            <a:pPr algn="ctr"/>
            <a:r>
              <a:rPr lang="en-GB" sz="6600" b="1" dirty="0">
                <a:solidFill>
                  <a:schemeClr val="accent2">
                    <a:lumMod val="75000"/>
                  </a:schemeClr>
                </a:solidFill>
                <a:latin typeface="Algerian" pitchFamily="82" charset="0"/>
              </a:rPr>
              <a:t>&amp; </a:t>
            </a:r>
          </a:p>
          <a:p>
            <a:pPr algn="ctr"/>
            <a:r>
              <a:rPr lang="en-GB" sz="6600" b="1" dirty="0">
                <a:solidFill>
                  <a:schemeClr val="accent2">
                    <a:lumMod val="75000"/>
                  </a:schemeClr>
                </a:solidFill>
                <a:latin typeface="Algerian" pitchFamily="82" charset="0"/>
              </a:rPr>
              <a:t>Other Discussions</a:t>
            </a:r>
            <a:endParaRPr lang="en-US" sz="6600" b="1" dirty="0">
              <a:solidFill>
                <a:schemeClr val="accent2">
                  <a:lumMod val="75000"/>
                </a:schemeClr>
              </a:solidFill>
              <a:latin typeface="Algerian" pitchFamily="82" charset="0"/>
            </a:endParaRPr>
          </a:p>
        </p:txBody>
      </p:sp>
      <p:pic>
        <p:nvPicPr>
          <p:cNvPr id="3" name="Picture 2">
            <a:extLst>
              <a:ext uri="{FF2B5EF4-FFF2-40B4-BE49-F238E27FC236}">
                <a16:creationId xmlns:a16="http://schemas.microsoft.com/office/drawing/2014/main" id="{81B121CF-7A3F-ADC9-7E87-AFA4046E5695}"/>
              </a:ext>
            </a:extLst>
          </p:cNvPr>
          <p:cNvPicPr>
            <a:picLocks noChangeAspect="1"/>
          </p:cNvPicPr>
          <p:nvPr/>
        </p:nvPicPr>
        <p:blipFill rotWithShape="1">
          <a:blip r:embed="rId2"/>
          <a:srcRect b="11614"/>
          <a:stretch/>
        </p:blipFill>
        <p:spPr>
          <a:xfrm>
            <a:off x="3588937" y="0"/>
            <a:ext cx="4529621" cy="2432695"/>
          </a:xfrm>
          <a:prstGeom prst="rect">
            <a:avLst/>
          </a:prstGeom>
        </p:spPr>
      </p:pic>
    </p:spTree>
    <p:extLst>
      <p:ext uri="{BB962C8B-B14F-4D97-AF65-F5344CB8AC3E}">
        <p14:creationId xmlns:p14="http://schemas.microsoft.com/office/powerpoint/2010/main" val="2815209240"/>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Terminator 6">
            <a:extLst>
              <a:ext uri="{FF2B5EF4-FFF2-40B4-BE49-F238E27FC236}">
                <a16:creationId xmlns:a16="http://schemas.microsoft.com/office/drawing/2014/main" id="{315301A9-B76A-38AF-11DE-420C2D178C6D}"/>
              </a:ext>
            </a:extLst>
          </p:cNvPr>
          <p:cNvSpPr/>
          <p:nvPr/>
        </p:nvSpPr>
        <p:spPr>
          <a:xfrm>
            <a:off x="3899850" y="340038"/>
            <a:ext cx="4392299" cy="1139137"/>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F973DAB-775D-2F84-0A3F-165CA591A411}"/>
              </a:ext>
            </a:extLst>
          </p:cNvPr>
          <p:cNvSpPr txBox="1"/>
          <p:nvPr/>
        </p:nvSpPr>
        <p:spPr>
          <a:xfrm>
            <a:off x="5118438" y="524885"/>
            <a:ext cx="3964438" cy="769441"/>
          </a:xfrm>
          <a:prstGeom prst="rect">
            <a:avLst/>
          </a:prstGeom>
          <a:noFill/>
        </p:spPr>
        <p:txBody>
          <a:bodyPr wrap="square" rtlCol="0">
            <a:spAutoFit/>
          </a:bodyPr>
          <a:lstStyle/>
          <a:p>
            <a:pPr algn="l"/>
            <a:r>
              <a:rPr lang="en-GB" sz="4400" b="1" dirty="0">
                <a:solidFill>
                  <a:schemeClr val="bg1"/>
                </a:solidFill>
                <a:latin typeface="Algerian" pitchFamily="82" charset="0"/>
              </a:rPr>
              <a:t>RESULT</a:t>
            </a:r>
            <a:endParaRPr lang="en-US" sz="4400" b="1" dirty="0">
              <a:solidFill>
                <a:schemeClr val="bg1"/>
              </a:solidFill>
              <a:latin typeface="Algerian" pitchFamily="82" charset="0"/>
            </a:endParaRPr>
          </a:p>
        </p:txBody>
      </p:sp>
      <p:sp>
        <p:nvSpPr>
          <p:cNvPr id="10" name="TextBox 9">
            <a:extLst>
              <a:ext uri="{FF2B5EF4-FFF2-40B4-BE49-F238E27FC236}">
                <a16:creationId xmlns:a16="http://schemas.microsoft.com/office/drawing/2014/main" id="{2860DEE2-2AB9-545F-B3E3-D40C418309A8}"/>
              </a:ext>
            </a:extLst>
          </p:cNvPr>
          <p:cNvSpPr txBox="1"/>
          <p:nvPr/>
        </p:nvSpPr>
        <p:spPr>
          <a:xfrm>
            <a:off x="1485287" y="2044005"/>
            <a:ext cx="9101216" cy="954107"/>
          </a:xfrm>
          <a:prstGeom prst="rect">
            <a:avLst/>
          </a:prstGeom>
          <a:noFill/>
        </p:spPr>
        <p:txBody>
          <a:bodyPr wrap="square" rtlCol="0">
            <a:spAutoFit/>
          </a:bodyPr>
          <a:lstStyle/>
          <a:p>
            <a:pPr algn="l"/>
            <a:r>
              <a:rPr lang="en-GB" sz="2800" b="1" dirty="0"/>
              <a:t>The Thickness of the spherical surface is T=0.104 cm and it’s radius of curvature is R=31.177 cm</a:t>
            </a:r>
            <a:endParaRPr lang="en-US" sz="2800" b="1" dirty="0"/>
          </a:p>
        </p:txBody>
      </p:sp>
      <p:pic>
        <p:nvPicPr>
          <p:cNvPr id="2" name="Picture 1">
            <a:extLst>
              <a:ext uri="{FF2B5EF4-FFF2-40B4-BE49-F238E27FC236}">
                <a16:creationId xmlns:a16="http://schemas.microsoft.com/office/drawing/2014/main" id="{96B79E26-78E3-FA12-21E5-6658C44F8DE9}"/>
              </a:ext>
            </a:extLst>
          </p:cNvPr>
          <p:cNvPicPr>
            <a:picLocks noChangeAspect="1"/>
          </p:cNvPicPr>
          <p:nvPr/>
        </p:nvPicPr>
        <p:blipFill>
          <a:blip r:embed="rId2"/>
          <a:srcRect/>
          <a:stretch/>
        </p:blipFill>
        <p:spPr>
          <a:xfrm>
            <a:off x="1407921" y="3830160"/>
            <a:ext cx="9255948" cy="3027840"/>
          </a:xfrm>
          <a:prstGeom prst="rect">
            <a:avLst/>
          </a:prstGeom>
        </p:spPr>
      </p:pic>
    </p:spTree>
    <p:extLst>
      <p:ext uri="{BB962C8B-B14F-4D97-AF65-F5344CB8AC3E}">
        <p14:creationId xmlns:p14="http://schemas.microsoft.com/office/powerpoint/2010/main" val="3741311682"/>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3C67E05-BC05-6EF6-199E-F324C1E75EAD}"/>
              </a:ext>
            </a:extLst>
          </p:cNvPr>
          <p:cNvSpPr>
            <a:spLocks noGrp="1"/>
          </p:cNvSpPr>
          <p:nvPr>
            <p:ph type="title"/>
          </p:nvPr>
        </p:nvSpPr>
        <p:spPr>
          <a:xfrm>
            <a:off x="2257009" y="367554"/>
            <a:ext cx="8219472" cy="1637280"/>
          </a:xfrm>
        </p:spPr>
        <p:txBody>
          <a:bodyPr/>
          <a:lstStyle/>
          <a:p>
            <a:pPr algn="ctr"/>
            <a:r>
              <a:rPr lang="en-GB" sz="4000" b="1" i="1" dirty="0">
                <a:latin typeface="Algerian" pitchFamily="82" charset="0"/>
              </a:rPr>
              <a:t>Precautions and Discussions</a:t>
            </a:r>
            <a:endParaRPr lang="en-US" sz="4000" b="1" i="1" dirty="0">
              <a:latin typeface="Algerian" pitchFamily="82" charset="0"/>
            </a:endParaRPr>
          </a:p>
        </p:txBody>
      </p:sp>
      <p:sp>
        <p:nvSpPr>
          <p:cNvPr id="7" name="TextBox 6">
            <a:extLst>
              <a:ext uri="{FF2B5EF4-FFF2-40B4-BE49-F238E27FC236}">
                <a16:creationId xmlns:a16="http://schemas.microsoft.com/office/drawing/2014/main" id="{C6C15E8F-0987-1B60-3E65-CE962AB68E8A}"/>
              </a:ext>
            </a:extLst>
          </p:cNvPr>
          <p:cNvSpPr txBox="1"/>
          <p:nvPr/>
        </p:nvSpPr>
        <p:spPr>
          <a:xfrm>
            <a:off x="591774" y="2370406"/>
            <a:ext cx="8478878" cy="3970318"/>
          </a:xfrm>
          <a:prstGeom prst="rect">
            <a:avLst/>
          </a:prstGeom>
          <a:noFill/>
        </p:spPr>
        <p:txBody>
          <a:bodyPr wrap="square" rtlCol="0">
            <a:spAutoFit/>
          </a:bodyPr>
          <a:lstStyle/>
          <a:p>
            <a:pPr marL="571500" indent="-571500" algn="l">
              <a:buAutoNum type="romanLcParenBoth"/>
            </a:pPr>
            <a:r>
              <a:rPr lang="en-GB" sz="2800" b="1" dirty="0"/>
              <a:t>Care must be taken to see that the central screw just touches the plate.</a:t>
            </a:r>
          </a:p>
          <a:p>
            <a:pPr algn="l"/>
            <a:r>
              <a:rPr lang="en-GB" sz="2800" b="1" dirty="0"/>
              <a:t>
(ii) Since a occurs as a square in the formula, its value must be determined very accurately.</a:t>
            </a:r>
          </a:p>
          <a:p>
            <a:pPr algn="l"/>
            <a:r>
              <a:rPr lang="en-GB" sz="2800" b="1" dirty="0"/>
              <a:t>
(iii) To avoid back-lash error, the screw must always be turned in the same direction while taking different readings.</a:t>
            </a:r>
            <a:endParaRPr lang="en-US" sz="2800" b="1" dirty="0"/>
          </a:p>
        </p:txBody>
      </p:sp>
      <p:pic>
        <p:nvPicPr>
          <p:cNvPr id="8" name="Picture 7">
            <a:extLst>
              <a:ext uri="{FF2B5EF4-FFF2-40B4-BE49-F238E27FC236}">
                <a16:creationId xmlns:a16="http://schemas.microsoft.com/office/drawing/2014/main" id="{2BEA3C45-21C4-910D-7E14-20E71E70B0F4}"/>
              </a:ext>
            </a:extLst>
          </p:cNvPr>
          <p:cNvPicPr>
            <a:picLocks noChangeAspect="1"/>
          </p:cNvPicPr>
          <p:nvPr/>
        </p:nvPicPr>
        <p:blipFill>
          <a:blip r:embed="rId2"/>
          <a:srcRect/>
          <a:stretch/>
        </p:blipFill>
        <p:spPr>
          <a:xfrm>
            <a:off x="8970129" y="2220684"/>
            <a:ext cx="3221871" cy="4120040"/>
          </a:xfrm>
          <a:prstGeom prst="rect">
            <a:avLst/>
          </a:prstGeom>
        </p:spPr>
      </p:pic>
    </p:spTree>
    <p:extLst>
      <p:ext uri="{BB962C8B-B14F-4D97-AF65-F5344CB8AC3E}">
        <p14:creationId xmlns:p14="http://schemas.microsoft.com/office/powerpoint/2010/main" val="3656131552"/>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A4EEF9A-EA3C-4A86-21D2-CB51D1AE55A1}"/>
              </a:ext>
            </a:extLst>
          </p:cNvPr>
          <p:cNvSpPr>
            <a:spLocks noGrp="1"/>
          </p:cNvSpPr>
          <p:nvPr>
            <p:ph type="title"/>
          </p:nvPr>
        </p:nvSpPr>
        <p:spPr>
          <a:xfrm>
            <a:off x="2257009" y="367554"/>
            <a:ext cx="8219472" cy="1637280"/>
          </a:xfrm>
        </p:spPr>
        <p:txBody>
          <a:bodyPr/>
          <a:lstStyle/>
          <a:p>
            <a:pPr algn="ctr"/>
            <a:r>
              <a:rPr lang="en-GB" sz="4000" b="1" i="1" dirty="0">
                <a:latin typeface="Algerian" pitchFamily="82" charset="0"/>
              </a:rPr>
              <a:t>Precautions and Discussions</a:t>
            </a:r>
            <a:endParaRPr lang="en-US" sz="4000" b="1" i="1" dirty="0">
              <a:latin typeface="Algerian" pitchFamily="82" charset="0"/>
            </a:endParaRPr>
          </a:p>
        </p:txBody>
      </p:sp>
      <p:pic>
        <p:nvPicPr>
          <p:cNvPr id="6" name="Picture 5">
            <a:extLst>
              <a:ext uri="{FF2B5EF4-FFF2-40B4-BE49-F238E27FC236}">
                <a16:creationId xmlns:a16="http://schemas.microsoft.com/office/drawing/2014/main" id="{84D50081-1B14-6030-EBDA-C9318937D122}"/>
              </a:ext>
            </a:extLst>
          </p:cNvPr>
          <p:cNvPicPr>
            <a:picLocks noChangeAspect="1"/>
          </p:cNvPicPr>
          <p:nvPr/>
        </p:nvPicPr>
        <p:blipFill>
          <a:blip r:embed="rId2"/>
          <a:srcRect/>
          <a:stretch/>
        </p:blipFill>
        <p:spPr>
          <a:xfrm>
            <a:off x="8970129" y="2220684"/>
            <a:ext cx="3221871" cy="4120040"/>
          </a:xfrm>
          <a:prstGeom prst="rect">
            <a:avLst/>
          </a:prstGeom>
        </p:spPr>
      </p:pic>
      <p:sp>
        <p:nvSpPr>
          <p:cNvPr id="8" name="TextBox 7">
            <a:extLst>
              <a:ext uri="{FF2B5EF4-FFF2-40B4-BE49-F238E27FC236}">
                <a16:creationId xmlns:a16="http://schemas.microsoft.com/office/drawing/2014/main" id="{776860EC-89EA-E82B-04CC-BC3D6E860152}"/>
              </a:ext>
            </a:extLst>
          </p:cNvPr>
          <p:cNvSpPr txBox="1"/>
          <p:nvPr/>
        </p:nvSpPr>
        <p:spPr>
          <a:xfrm>
            <a:off x="522933" y="2680564"/>
            <a:ext cx="8841110" cy="3539430"/>
          </a:xfrm>
          <a:prstGeom prst="rect">
            <a:avLst/>
          </a:prstGeom>
          <a:noFill/>
        </p:spPr>
        <p:txBody>
          <a:bodyPr wrap="square" rtlCol="0">
            <a:spAutoFit/>
          </a:bodyPr>
          <a:lstStyle/>
          <a:p>
            <a:pPr algn="l"/>
            <a:r>
              <a:rPr lang="en-GB" sz="2800" b="1" dirty="0"/>
              <a:t>(iv) If the pitch of the screw is half the linear scale division, care should be taken in noting the linear scale reading. When the upper edge of the circular disc is more than half way above a particular linear scale division, the linear scale reading is obtained by adding half a linear scale division to the linear scale mark just below the upper edge of the disc.</a:t>
            </a:r>
            <a:endParaRPr lang="en-US" sz="2800" b="1" dirty="0"/>
          </a:p>
        </p:txBody>
      </p:sp>
    </p:spTree>
    <p:extLst>
      <p:ext uri="{BB962C8B-B14F-4D97-AF65-F5344CB8AC3E}">
        <p14:creationId xmlns:p14="http://schemas.microsoft.com/office/powerpoint/2010/main" val="478740085"/>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BD7016C-F1EC-4F6C-A228-FF6D4576AC5D}"/>
              </a:ext>
            </a:extLst>
          </p:cNvPr>
          <p:cNvSpPr txBox="1"/>
          <p:nvPr/>
        </p:nvSpPr>
        <p:spPr>
          <a:xfrm>
            <a:off x="1316182" y="1234686"/>
            <a:ext cx="9559636" cy="6863417"/>
          </a:xfrm>
          <a:prstGeom prst="rect">
            <a:avLst/>
          </a:prstGeom>
          <a:noFill/>
        </p:spPr>
        <p:txBody>
          <a:bodyPr wrap="square" rtlCol="0" anchor="ctr">
            <a:spAutoFit/>
          </a:bodyPr>
          <a:lstStyle/>
          <a:p>
            <a:pPr algn="ctr"/>
            <a:r>
              <a:rPr lang="en-GB" sz="8800" b="1" dirty="0">
                <a:solidFill>
                  <a:schemeClr val="bg1"/>
                </a:solidFill>
                <a:latin typeface="Algerian" pitchFamily="82" charset="0"/>
              </a:rPr>
              <a:t>THANK YOU</a:t>
            </a:r>
          </a:p>
          <a:p>
            <a:pPr algn="ctr"/>
            <a:r>
              <a:rPr lang="en-GB" sz="8800" b="1" dirty="0">
                <a:solidFill>
                  <a:schemeClr val="bg1"/>
                </a:solidFill>
                <a:latin typeface="Algerian" pitchFamily="82" charset="0"/>
              </a:rPr>
              <a:t>FOR</a:t>
            </a:r>
          </a:p>
          <a:p>
            <a:pPr algn="ctr"/>
            <a:r>
              <a:rPr lang="en-GB" sz="8800" b="1" dirty="0">
                <a:solidFill>
                  <a:schemeClr val="bg1"/>
                </a:solidFill>
                <a:latin typeface="Algerian" pitchFamily="82" charset="0"/>
              </a:rPr>
              <a:t>WATCHING</a:t>
            </a:r>
          </a:p>
          <a:p>
            <a:pPr algn="ctr"/>
            <a:endParaRPr lang="en-GB" sz="8800" b="1" dirty="0">
              <a:latin typeface="Algerian" pitchFamily="82" charset="0"/>
            </a:endParaRPr>
          </a:p>
          <a:p>
            <a:pPr algn="ctr"/>
            <a:endParaRPr lang="en-US" sz="8800" b="1" dirty="0">
              <a:latin typeface="Algerian" pitchFamily="82" charset="0"/>
            </a:endParaRPr>
          </a:p>
        </p:txBody>
      </p:sp>
    </p:spTree>
    <p:extLst>
      <p:ext uri="{BB962C8B-B14F-4D97-AF65-F5344CB8AC3E}">
        <p14:creationId xmlns:p14="http://schemas.microsoft.com/office/powerpoint/2010/main" val="1640543020"/>
      </p:ext>
    </p:extLst>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TF10001029">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TF10001029" id="{ED3996BA-162B-43C7-B0E2-A5CA4E649741}" vid="{187088E4-27D7-4455-856F-4A44258D82E2}"/>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25</Slides>
  <Notes>0</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TF10001029</vt:lpstr>
      <vt:lpstr>PowerPoint Presentation</vt:lpstr>
      <vt:lpstr>PowerPoint Presentation</vt:lpstr>
      <vt:lpstr>Who will explain Which parts</vt:lpstr>
      <vt:lpstr>CONTENTS</vt:lpstr>
      <vt:lpstr>NAME OF THE EXPERIMENT</vt:lpstr>
      <vt:lpstr>PowerPoint Presentation</vt:lpstr>
      <vt:lpstr>Objective</vt:lpstr>
      <vt:lpstr>Learning outcomes</vt:lpstr>
      <vt:lpstr>PowerPoint Presentation</vt:lpstr>
      <vt:lpstr>Theory</vt:lpstr>
      <vt:lpstr>Theory</vt:lpstr>
      <vt:lpstr>Theory</vt:lpstr>
      <vt:lpstr>Theory</vt:lpstr>
      <vt:lpstr>Apparatus</vt:lpstr>
      <vt:lpstr>Procedures</vt:lpstr>
      <vt:lpstr>Procedures</vt:lpstr>
      <vt:lpstr>Procedures</vt:lpstr>
      <vt:lpstr>Procedures</vt:lpstr>
      <vt:lpstr>Procedures</vt:lpstr>
      <vt:lpstr>PowerPoint Presentation</vt:lpstr>
      <vt:lpstr>PowerPoint Presentation</vt:lpstr>
      <vt:lpstr>PowerPoint Presentation</vt:lpstr>
      <vt:lpstr>Precautions and Discussions</vt:lpstr>
      <vt:lpstr>Precautions and Discussions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o</dc:title>
  <dc:creator>Shawon Islam</dc:creator>
  <cp:lastModifiedBy>Shawon Islam</cp:lastModifiedBy>
  <cp:revision>11</cp:revision>
  <dcterms:created xsi:type="dcterms:W3CDTF">2024-05-21T07:01:48Z</dcterms:created>
  <dcterms:modified xsi:type="dcterms:W3CDTF">2026-01-07T12:18:07Z</dcterms:modified>
</cp:coreProperties>
</file>